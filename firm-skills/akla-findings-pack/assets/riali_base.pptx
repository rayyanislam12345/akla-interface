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ppt/slides/slide4.xml" ContentType="application/vnd.openxmlformats-officedocument.presentationml.slide+xml"/>
  <Override PartName="/ppt/notesSlides/notesSlide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7" r:id="rId3"/>
    <p:sldId id="259"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presProps" Target="presProps.xml"/><Relationship Id="rId11" Type="http://schemas.openxmlformats.org/officeDocument/2006/relationships/customXml" Target="../customXml/item2.xml"/><Relationship Id="rId5" Type="http://schemas.openxmlformats.org/officeDocument/2006/relationships/notesMaster" Target="notesMasters/notesMaster1.xml"/><Relationship Id="rId10" Type="http://schemas.openxmlformats.org/officeDocument/2006/relationships/customXml" Target="../customXml/item1.xml"/><Relationship Id="rId9" Type="http://schemas.openxmlformats.org/officeDocument/2006/relationships/tableStyles" Target="tableStyles.xml"/>  <Relationship Id="rId13" Type="http://schemas.openxmlformats.org/officeDocument/2006/relationships/slide" Target="slides/slide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4684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PI1.15 - Construction Contract [Review Completed][September 18, 2026] (AEREM Energy (Private) Limited / [contractor], Dhabeji Solar and Wind Hybrid Power Complex, Jungshahi, Thatta); tracked changes by Ali Khan Law Associates only, other reviewers’ changes shown as accepted. Back-to-back: Clause 1.2 (Interpretation: EPA definitions apply subject to Clause 1.20; Contract definition prevails where both define a term), Clause 1.20 (Priority of Documents: EPA requirement prevails where the Contract is less onerous, at no additional cost and without extension), Clause 1.21 (Contract Modification) and the Financiers’ amendments clause (no change adverse to the Energy Purchaser without its consent), Clause 1.11 (information within a shorter period, not less than five days, to meet EPA time limits), Clause 4.1 (Contractor to assist the Employer to comply with the EPA). Change in Law: definition re-based to the Bid Submission Date with a “material change in cost” test (InfraCo Asia asked for a quantitative threshold) and Clause 13.5 (no adjustment unless the aggregate cost increase equals or exceeds 10% of the Contract Price); Change in Tax notice within 10 days and calculation within 20 days for the certification under Section 14.3(b) of the EPA; Lapse of Consent of 30 days or more as Pakistan Political Force Majeure, shorter as Other Force Majeure, with no relief for Consents the Contractor must obtain. Time, output and capacity: Clause 4.3(b) (liquidated damages of USD [insert] per day for failure to deliver and assign the Performance Bond and Advance Payment Guarantee within 14 days of the Trigger Notice, given the 60-day Construction Start Date under EPA Section 16.1(a)(i)); Final Notice to Proceed within 30 days of Financial Closing, failing which day-for-day extension; Delay Damages from the earlier of the Time for Completion and 30 days before the Required Commercial Operations Date; Clause 5.1 design life of 25 years from COD and not less than the EPA Term; new Clause 9.5 Annual Benchmark Energy warranty (shortfall attributable to the Works is a Defect, Clause 11.11 Latent Defects applies); Clause 9.5(h) minimum installed WTG and PV capacity and maximum evacuation, USD 400,000 per MW shortfall; new, contemporary and unused Goods certified against EPA Schedules 2 and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PI1.15 - Construction Contract [Review Completed][September 18, 2026]; tracked changes by Ali Khan Law Associates only. Grid interface: Clause 5.10 (Metering System and Back-up Metering System procured and ready by the earliest of 60 days before the Time for Completion, 45 days before the Scheduled COD and 18 days before energisation or initial testing; installed at the higher-voltage side of the Interconnection Point in a locked, brick-walled enclosure; accuracy tested with the Energy Purchaser), Complex Monitoring System and Meteorological System to EPA Section 5.10(a) as a Taking-Over Criterion, telecommunication and tele-protection (OPGW primary and V-SAT backup) by the earlier of 45 days before the Time for Completion and 30 days before the Scheduled COD, new Forecasting Equipment clause (Hybrid Forecast Model devices 60 days before the Time for Completion; two load banks under EPA Section 8.5A; 48 hours’ notice of tests; all within the Contract Price); protective relay settings and the single line diagram within 20 days of the Commencement Date; Clause 4.20 security fence and surveillance as a Taking-Over Criterion; Purchaser Interconnection Works access without extension or Cost; 45 days’ notice for the Employer Interconnection Facilities and reporting against the Interconnection Works Schedule; new Clause 10.3 interconnection co-operation with KE (answering InfraCo Asia’s query) and acknowledgement of KE’s energisation timelines; commissioning: the Engineer’s access and certificates, Commissioning Tests and Reliability Run Test under EPA Article VIII and Schedule 7, testing programme 45 days ahead with 14-day and 72-hour change notices, Milestone for the Certificate of Commissioning. Subcontracting and sanctions: definition of ABC Laws (Prevention of Corruption Act 1947, National Accountability Ordinance 1999, Anti-Terrorism Act 1997, Anti-Money Laundering Act 2010, Competition Act 2010, Securities Act 2015, Pakistan Penal Code ss. 161 to 165A); Clause 4.5(b) (50% value test and site supervision test, 14-day remedy or replacement at no cost; subcontract in a form approved by the Employer, InfraCo Asia to append a template; Category 1 E&amp;S Non-Conformance suspension within 5 Business Days at the Contractor’s cost and without extension); Clause 4.28 warranties after due enquiry covering Affiliates, directors, officers and proposed Subcontractors; Clause 15.2 termination for breach of undertakings (14-day cure for (d) and (e)) and for a Restricted Person Subcontractor not replaced within 10 Business Days. Insurance and indemnities: new Clause on insurance endorsements under EPA Sections 12.3 and 12.4 (additional insured status for the Energy Purchaser and its directors, officers and employees, primary cover, separation of interests, waiver of subrogation, cancellation/lapse notice periods; all-risk certificate within 5 Business Days of the Commencement Date, policy as soon as available); tampering indemnity (Clause 15.2 termination consequences) broadened from “compensation paid by the Employer to the Energy Purchaser as a result of termination” to “any amount paid or payable... under or in connection with the Energy Purchase Agreement (including liquidated damages under Section 5.11, the cost of remedial action, and any compensation payable on termination)”. Other Contract mark-ups: emergency arrangements within 21 days and drills every six months, tied into the Emergency Preparedness and Response Plan under Section 3.7.4.11 of the Employer’s Requirements; remedy periods of not less than 14 days with a determination route under Clause 3.5; Carbon Credits documentation within 30 days of request; operating procedures timed to EPA Section 2.5; Preliminary Works completion period left as [insert] (Lucas Teng queried whether a timeline is market practice); Key Persons E&amp;S contact notified within 7 days, no deemed approval for the HSE Manager or the Contractor’s designated Environmental and Social contact. Open items: USD [insert] per day for late bonds, [insert] MW and MWp capacities, the Preliminary Works completion period, and Lucas Teng’s queries on the Payment Schedule and the removed liability cap.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2.jpe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2.jpeg" /><Relationship Id="rId9" Type="http://schemas.openxmlformats.org/officeDocument/2006/relationships/notesSlide" Target="../notesSlides/notesSlide4.xml" /></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0F2557"/>
          </a:solidFill>
          <a:ln/>
        </p:spPr>
        <p:txBody>
          <a:bodyPr/>
          <a:lstStyle/>
          <a:p>
            <a:endParaRPr lang="en-US"/>
          </a:p>
        </p:txBody>
      </p:sp>
      <p:sp>
        <p:nvSpPr>
          <p:cNvPr id="3" name="Text 1"/>
          <p:cNvSpPr txBox="1"/>
          <p:nvPr/>
        </p:nvSpPr>
        <p:spPr>
          <a:xfrm>
            <a:off x="228600" y="0"/>
            <a:ext cx="11734495" cy="274320"/>
          </a:xfrm>
          <a:prstGeom prst="rect">
            <a:avLst/>
          </a:prstGeom>
          <a:noFill/>
          <a:ln/>
        </p:spPr>
        <p:txBody>
          <a:bodyPr wrap="square" lIns="0" tIns="0" rIns="0" bIns="0" rtlCol="0" anchor="ctr"/>
          <a:lstStyle/>
          <a:p>
            <a:pPr marL="0" indent="0" algn="l">
              <a:buNone/>
            </a:pPr>
            <a:r>
              <a:rPr lang="en-US" sz="1050" b="1" kern="0" spc="100" dirty="0">
                <a:solidFill>
                  <a:srgbClr val="F2A900"/>
                </a:solidFill>
                <a:latin typeface="Arial" pitchFamily="34" charset="0"/>
                <a:ea typeface="Arial" pitchFamily="34" charset="-122"/>
                <a:cs typeface="Arial" pitchFamily="34" charset="-120"/>
              </a:rPr>
              <a:t xml:space="preserve">P</a:t>
            </a:r>
            <a:r>
              <a:rPr lang="en-US" sz="850" b="1" kern="0" spc="100" dirty="0">
                <a:solidFill>
                  <a:srgbClr val="F2A900"/>
                </a:solidFill>
                <a:latin typeface="Arial" pitchFamily="34" charset="0"/>
                <a:ea typeface="Arial" pitchFamily="34" charset="-122"/>
                <a:cs typeface="Arial" pitchFamily="34" charset="-120"/>
              </a:rPr>
              <a:t xml:space="preserve">RESENTATION</a:t>
            </a:r>
            <a:r>
              <a:rPr lang="en-US" sz="1050" b="1" kern="0" spc="100" dirty="0">
                <a:solidFill>
                  <a:srgbClr val="F2A900"/>
                </a:solidFill>
                <a:latin typeface="Arial" pitchFamily="34" charset="0"/>
                <a:ea typeface="Arial" pitchFamily="34" charset="-122"/>
                <a:cs typeface="Arial" pitchFamily="34" charset="-120"/>
              </a:rPr>
              <a:t xml:space="preserve"> P</a:t>
            </a:r>
            <a:r>
              <a:rPr lang="en-US" sz="850" b="1" kern="0" spc="100" dirty="0">
                <a:solidFill>
                  <a:srgbClr val="F2A900"/>
                </a:solidFill>
                <a:latin typeface="Arial" pitchFamily="34" charset="0"/>
                <a:ea typeface="Arial" pitchFamily="34" charset="-122"/>
                <a:cs typeface="Arial" pitchFamily="34" charset="-120"/>
              </a:rPr>
              <a:t xml:space="preserve">ERTAINING</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O</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HE</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ONSTRUCTION</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ONTRACT</a:t>
            </a:r>
            <a:r>
              <a:rPr lang="en-US" sz="1050" b="1" kern="0" spc="100" dirty="0">
                <a:solidFill>
                  <a:srgbClr val="F2A900"/>
                </a:solidFill>
                <a:latin typeface="Arial" pitchFamily="34" charset="0"/>
                <a:ea typeface="Arial" pitchFamily="34" charset="-122"/>
                <a:cs typeface="Arial" pitchFamily="34" charset="-120"/>
              </a:rPr>
              <a:t xml:space="preserve"> F</a:t>
            </a:r>
            <a:r>
              <a:rPr lang="en-US" sz="850" b="1" kern="0" spc="100" dirty="0">
                <a:solidFill>
                  <a:srgbClr val="F2A900"/>
                </a:solidFill>
                <a:latin typeface="Arial" pitchFamily="34" charset="0"/>
                <a:ea typeface="Arial" pitchFamily="34" charset="-122"/>
                <a:cs typeface="Arial" pitchFamily="34" charset="-120"/>
              </a:rPr>
              <a:t xml:space="preserve">OR</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HE</a:t>
            </a:r>
            <a:r>
              <a:rPr lang="en-US" sz="1050" b="1" kern="0" spc="100" dirty="0">
                <a:solidFill>
                  <a:srgbClr val="F2A900"/>
                </a:solidFill>
                <a:latin typeface="Arial" pitchFamily="34" charset="0"/>
                <a:ea typeface="Arial" pitchFamily="34" charset="-122"/>
                <a:cs typeface="Arial" pitchFamily="34" charset="-120"/>
              </a:rPr>
              <a:t xml:space="preserve"> D</a:t>
            </a:r>
            <a:r>
              <a:rPr lang="en-US" sz="850" b="1" kern="0" spc="100" dirty="0">
                <a:solidFill>
                  <a:srgbClr val="F2A900"/>
                </a:solidFill>
                <a:latin typeface="Arial" pitchFamily="34" charset="0"/>
                <a:ea typeface="Arial" pitchFamily="34" charset="-122"/>
                <a:cs typeface="Arial" pitchFamily="34" charset="-120"/>
              </a:rPr>
              <a:t xml:space="preserve">HABEJI</a:t>
            </a:r>
            <a:r>
              <a:rPr lang="en-US" sz="1050" b="1" kern="0" spc="100" dirty="0">
                <a:solidFill>
                  <a:srgbClr val="F2A900"/>
                </a:solidFill>
                <a:latin typeface="Arial" pitchFamily="34" charset="0"/>
                <a:ea typeface="Arial" pitchFamily="34" charset="-122"/>
                <a:cs typeface="Arial" pitchFamily="34" charset="-120"/>
              </a:rPr>
              <a:t xml:space="preserve"> S</a:t>
            </a:r>
            <a:r>
              <a:rPr lang="en-US" sz="850" b="1" kern="0" spc="100" dirty="0">
                <a:solidFill>
                  <a:srgbClr val="F2A900"/>
                </a:solidFill>
                <a:latin typeface="Arial" pitchFamily="34" charset="0"/>
                <a:ea typeface="Arial" pitchFamily="34" charset="-122"/>
                <a:cs typeface="Arial" pitchFamily="34" charset="-120"/>
              </a:rPr>
              <a:t xml:space="preserve">OLAR</a:t>
            </a:r>
            <a:r>
              <a:rPr lang="en-US" sz="1050" b="1" kern="0" spc="100" dirty="0">
                <a:solidFill>
                  <a:srgbClr val="F2A900"/>
                </a:solidFill>
                <a:latin typeface="Arial" pitchFamily="34" charset="0"/>
                <a:ea typeface="Arial" pitchFamily="34" charset="-122"/>
                <a:cs typeface="Arial" pitchFamily="34" charset="-120"/>
              </a:rPr>
              <a:t xml:space="preserve"> A</a:t>
            </a:r>
            <a:r>
              <a:rPr lang="en-US" sz="850" b="1" kern="0" spc="100" dirty="0">
                <a:solidFill>
                  <a:srgbClr val="F2A900"/>
                </a:solidFill>
                <a:latin typeface="Arial" pitchFamily="34" charset="0"/>
                <a:ea typeface="Arial" pitchFamily="34" charset="-122"/>
                <a:cs typeface="Arial" pitchFamily="34" charset="-120"/>
              </a:rPr>
              <a:t xml:space="preserve">ND</a:t>
            </a:r>
            <a:r>
              <a:rPr lang="en-US" sz="1050" b="1" kern="0" spc="100" dirty="0">
                <a:solidFill>
                  <a:srgbClr val="F2A900"/>
                </a:solidFill>
                <a:latin typeface="Arial" pitchFamily="34" charset="0"/>
                <a:ea typeface="Arial" pitchFamily="34" charset="-122"/>
                <a:cs typeface="Arial" pitchFamily="34" charset="-120"/>
              </a:rPr>
              <a:t xml:space="preserve"> W</a:t>
            </a:r>
            <a:r>
              <a:rPr lang="en-US" sz="850" b="1" kern="0" spc="100" dirty="0">
                <a:solidFill>
                  <a:srgbClr val="F2A900"/>
                </a:solidFill>
                <a:latin typeface="Arial" pitchFamily="34" charset="0"/>
                <a:ea typeface="Arial" pitchFamily="34" charset="-122"/>
                <a:cs typeface="Arial" pitchFamily="34" charset="-120"/>
              </a:rPr>
              <a:t xml:space="preserve">IND</a:t>
            </a:r>
            <a:r>
              <a:rPr lang="en-US" sz="1050" b="1" kern="0" spc="100" dirty="0">
                <a:solidFill>
                  <a:srgbClr val="F2A900"/>
                </a:solidFill>
                <a:latin typeface="Arial" pitchFamily="34" charset="0"/>
                <a:ea typeface="Arial" pitchFamily="34" charset="-122"/>
                <a:cs typeface="Arial" pitchFamily="34" charset="-120"/>
              </a:rPr>
              <a:t xml:space="preserve"> H</a:t>
            </a:r>
            <a:r>
              <a:rPr lang="en-US" sz="850" b="1" kern="0" spc="100" dirty="0">
                <a:solidFill>
                  <a:srgbClr val="F2A900"/>
                </a:solidFill>
                <a:latin typeface="Arial" pitchFamily="34" charset="0"/>
                <a:ea typeface="Arial" pitchFamily="34" charset="-122"/>
                <a:cs typeface="Arial" pitchFamily="34" charset="-120"/>
              </a:rPr>
              <a:t xml:space="preserve">YBRID</a:t>
            </a:r>
            <a:r>
              <a:rPr lang="en-US" sz="1050" b="1" kern="0" spc="100" dirty="0">
                <a:solidFill>
                  <a:srgbClr val="F2A900"/>
                </a:solidFill>
                <a:latin typeface="Arial" pitchFamily="34" charset="0"/>
                <a:ea typeface="Arial" pitchFamily="34" charset="-122"/>
                <a:cs typeface="Arial" pitchFamily="34" charset="-120"/>
              </a:rPr>
              <a:t xml:space="preserve"> P</a:t>
            </a:r>
            <a:r>
              <a:rPr lang="en-US" sz="850" b="1" kern="0" spc="100" dirty="0">
                <a:solidFill>
                  <a:srgbClr val="F2A900"/>
                </a:solidFill>
                <a:latin typeface="Arial" pitchFamily="34" charset="0"/>
                <a:ea typeface="Arial" pitchFamily="34" charset="-122"/>
                <a:cs typeface="Arial" pitchFamily="34" charset="-120"/>
              </a:rPr>
              <a:t xml:space="preserve">OWER</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OMPLEX</a:t>
            </a:r>
            <a:endParaRPr lang="en-US" sz="1050" dirty="0"/>
          </a:p>
        </p:txBody>
      </p:sp>
      <p:sp>
        <p:nvSpPr>
          <p:cNvPr id="4" name="Text 2"/>
          <p:cNvSpPr txBox="1"/>
          <p:nvPr/>
        </p:nvSpPr>
        <p:spPr>
          <a:xfrm>
            <a:off x="502920" y="402336"/>
            <a:ext cx="11185855" cy="566928"/>
          </a:xfrm>
          <a:prstGeom prst="rect">
            <a:avLst/>
          </a:prstGeom>
          <a:noFill/>
          <a:ln/>
        </p:spPr>
        <p:txBody>
          <a:bodyPr wrap="square" lIns="0" tIns="0" rIns="0" bIns="0" rtlCol="0" anchor="ctr"/>
          <a:lstStyle/>
          <a:p>
            <a:pPr marL="0" indent="0" algn="l">
              <a:buNone/>
            </a:pPr>
            <a:r>
              <a:rPr lang="en-US" sz="2600" b="1" dirty="0">
                <a:solidFill>
                  <a:srgbClr val="1F3864"/>
                </a:solidFill>
                <a:latin typeface="Arial" pitchFamily="34" charset="0"/>
                <a:ea typeface="Arial" pitchFamily="34" charset="-122"/>
                <a:cs typeface="Arial" pitchFamily="34" charset="-120"/>
              </a:rPr>
              <a:t xml:space="preserve">K</a:t>
            </a:r>
            <a:r>
              <a:rPr lang="en-US" sz="2000" b="1" dirty="0">
                <a:solidFill>
                  <a:srgbClr val="1F3864"/>
                </a:solidFill>
                <a:latin typeface="Arial" pitchFamily="34" charset="0"/>
                <a:ea typeface="Arial" pitchFamily="34" charset="-122"/>
                <a:cs typeface="Arial" pitchFamily="34" charset="-120"/>
              </a:rPr>
              <a:t xml:space="preserve">EY</a:t>
            </a:r>
            <a:r>
              <a:rPr lang="en-US" sz="2600" b="1" dirty="0">
                <a:solidFill>
                  <a:srgbClr val="1F3864"/>
                </a:solidFill>
                <a:latin typeface="Arial" pitchFamily="34" charset="0"/>
                <a:ea typeface="Arial" pitchFamily="34" charset="-122"/>
                <a:cs typeface="Arial" pitchFamily="34" charset="-120"/>
              </a:rPr>
              <a:t xml:space="preserve"> M</a:t>
            </a:r>
            <a:r>
              <a:rPr lang="en-US" sz="2000" b="1" dirty="0">
                <a:solidFill>
                  <a:srgbClr val="1F3864"/>
                </a:solidFill>
                <a:latin typeface="Arial" pitchFamily="34" charset="0"/>
                <a:ea typeface="Arial" pitchFamily="34" charset="-122"/>
                <a:cs typeface="Arial" pitchFamily="34" charset="-120"/>
              </a:rPr>
              <a:t xml:space="preserve">ARK</a:t>
            </a:r>
            <a:r>
              <a:rPr lang="en-US" sz="2600" b="1" dirty="0">
                <a:solidFill>
                  <a:srgbClr val="1F3864"/>
                </a:solidFill>
                <a:latin typeface="Arial" pitchFamily="34" charset="0"/>
                <a:ea typeface="Arial" pitchFamily="34" charset="-122"/>
                <a:cs typeface="Arial" pitchFamily="34" charset="-120"/>
              </a:rPr>
              <a:t xml:space="preserve">-U</a:t>
            </a:r>
            <a:r>
              <a:rPr lang="en-US" sz="2000" b="1" dirty="0">
                <a:solidFill>
                  <a:srgbClr val="1F3864"/>
                </a:solidFill>
                <a:latin typeface="Arial" pitchFamily="34" charset="0"/>
                <a:ea typeface="Arial" pitchFamily="34" charset="-122"/>
                <a:cs typeface="Arial" pitchFamily="34" charset="-120"/>
              </a:rPr>
              <a:t xml:space="preserve">PS</a:t>
            </a:r>
            <a:r>
              <a:rPr lang="en-US" sz="2600" b="1" dirty="0">
                <a:solidFill>
                  <a:srgbClr val="1F3864"/>
                </a:solidFill>
                <a:latin typeface="Arial" pitchFamily="34" charset="0"/>
                <a:ea typeface="Arial" pitchFamily="34" charset="-122"/>
                <a:cs typeface="Arial" pitchFamily="34" charset="-120"/>
              </a:rPr>
              <a:t xml:space="preserve"> T</a:t>
            </a:r>
            <a:r>
              <a:rPr lang="en-US" sz="2000" b="1" dirty="0">
                <a:solidFill>
                  <a:srgbClr val="1F3864"/>
                </a:solidFill>
                <a:latin typeface="Arial" pitchFamily="34" charset="0"/>
                <a:ea typeface="Arial" pitchFamily="34" charset="-122"/>
                <a:cs typeface="Arial" pitchFamily="34" charset="-120"/>
              </a:rPr>
              <a:t xml:space="preserve">O</a:t>
            </a:r>
            <a:r>
              <a:rPr lang="en-US" sz="2600" b="1" dirty="0">
                <a:solidFill>
                  <a:srgbClr val="1F3864"/>
                </a:solidFill>
                <a:latin typeface="Arial" pitchFamily="34" charset="0"/>
                <a:ea typeface="Arial" pitchFamily="34" charset="-122"/>
                <a:cs typeface="Arial" pitchFamily="34" charset="-120"/>
              </a:rPr>
              <a:t xml:space="preserve"> T</a:t>
            </a:r>
            <a:r>
              <a:rPr lang="en-US" sz="2000" b="1" dirty="0">
                <a:solidFill>
                  <a:srgbClr val="1F3864"/>
                </a:solidFill>
                <a:latin typeface="Arial" pitchFamily="34" charset="0"/>
                <a:ea typeface="Arial" pitchFamily="34" charset="-122"/>
                <a:cs typeface="Arial" pitchFamily="34" charset="-120"/>
              </a:rPr>
              <a:t xml:space="preserve">HE</a:t>
            </a:r>
            <a:r>
              <a:rPr lang="en-US" sz="2600" b="1" dirty="0">
                <a:solidFill>
                  <a:srgbClr val="1F3864"/>
                </a:solidFill>
                <a:latin typeface="Arial" pitchFamily="34" charset="0"/>
                <a:ea typeface="Arial" pitchFamily="34" charset="-122"/>
                <a:cs typeface="Arial" pitchFamily="34" charset="-120"/>
              </a:rPr>
              <a:t xml:space="preserve"> C</a:t>
            </a:r>
            <a:r>
              <a:rPr lang="en-US" sz="2000" b="1" dirty="0">
                <a:solidFill>
                  <a:srgbClr val="1F3864"/>
                </a:solidFill>
                <a:latin typeface="Arial" pitchFamily="34" charset="0"/>
                <a:ea typeface="Arial" pitchFamily="34" charset="-122"/>
                <a:cs typeface="Arial" pitchFamily="34" charset="-120"/>
              </a:rPr>
              <a:t xml:space="preserve">ONSTRUCTION</a:t>
            </a:r>
            <a:r>
              <a:rPr lang="en-US" sz="2600" b="1" dirty="0">
                <a:solidFill>
                  <a:srgbClr val="1F3864"/>
                </a:solidFill>
                <a:latin typeface="Arial" pitchFamily="34" charset="0"/>
                <a:ea typeface="Arial" pitchFamily="34" charset="-122"/>
                <a:cs typeface="Arial" pitchFamily="34" charset="-120"/>
              </a:rPr>
              <a:t xml:space="preserve"> C</a:t>
            </a:r>
            <a:r>
              <a:rPr lang="en-US" sz="2000" b="1" dirty="0">
                <a:solidFill>
                  <a:srgbClr val="1F3864"/>
                </a:solidFill>
                <a:latin typeface="Arial" pitchFamily="34" charset="0"/>
                <a:ea typeface="Arial" pitchFamily="34" charset="-122"/>
                <a:cs typeface="Arial" pitchFamily="34" charset="-120"/>
              </a:rPr>
              <a:t xml:space="preserve">ONTRACT</a:t>
            </a:r>
            <a:r>
              <a:rPr lang="en-US" sz="2600" b="1" dirty="0">
                <a:solidFill>
                  <a:srgbClr val="1F3864"/>
                </a:solidFill>
                <a:latin typeface="Arial" pitchFamily="34" charset="0"/>
                <a:ea typeface="Arial" pitchFamily="34" charset="-122"/>
                <a:cs typeface="Arial" pitchFamily="34" charset="-120"/>
              </a:rPr>
              <a:t xml:space="preserve"> A</a:t>
            </a:r>
            <a:r>
              <a:rPr lang="en-US" sz="2000" b="1" dirty="0">
                <a:solidFill>
                  <a:srgbClr val="1F3864"/>
                </a:solidFill>
                <a:latin typeface="Arial" pitchFamily="34" charset="0"/>
                <a:ea typeface="Arial" pitchFamily="34" charset="-122"/>
                <a:cs typeface="Arial" pitchFamily="34" charset="-120"/>
              </a:rPr>
              <a:t xml:space="preserve">ND</a:t>
            </a:r>
            <a:r>
              <a:rPr lang="en-US" sz="2600" b="1" dirty="0">
                <a:solidFill>
                  <a:srgbClr val="1F3864"/>
                </a:solidFill>
                <a:latin typeface="Arial" pitchFamily="34" charset="0"/>
                <a:ea typeface="Arial" pitchFamily="34" charset="-122"/>
                <a:cs typeface="Arial" pitchFamily="34" charset="-120"/>
              </a:rPr>
              <a:t xml:space="preserve"> W</a:t>
            </a:r>
            <a:r>
              <a:rPr lang="en-US" sz="2000" b="1" dirty="0">
                <a:solidFill>
                  <a:srgbClr val="1F3864"/>
                </a:solidFill>
                <a:latin typeface="Arial" pitchFamily="34" charset="0"/>
                <a:ea typeface="Arial" pitchFamily="34" charset="-122"/>
                <a:cs typeface="Arial" pitchFamily="34" charset="-120"/>
              </a:rPr>
              <a:t xml:space="preserve">HY</a:t>
            </a:r>
            <a:r>
              <a:rPr lang="en-US" sz="2600" b="1" dirty="0">
                <a:solidFill>
                  <a:srgbClr val="1F3864"/>
                </a:solidFill>
                <a:latin typeface="Arial" pitchFamily="34" charset="0"/>
                <a:ea typeface="Arial" pitchFamily="34" charset="-122"/>
                <a:cs typeface="Arial" pitchFamily="34" charset="-120"/>
              </a:rPr>
              <a:t xml:space="preserve"> – P</a:t>
            </a:r>
            <a:r>
              <a:rPr lang="en-US" sz="2000" b="1" dirty="0">
                <a:solidFill>
                  <a:srgbClr val="1F3864"/>
                </a:solidFill>
                <a:latin typeface="Arial" pitchFamily="34" charset="0"/>
                <a:ea typeface="Arial" pitchFamily="34" charset="-122"/>
                <a:cs typeface="Arial" pitchFamily="34" charset="-120"/>
              </a:rPr>
              <a:t xml:space="preserve">ART</a:t>
            </a:r>
            <a:r>
              <a:rPr lang="en-US" sz="2600" b="1" dirty="0">
                <a:solidFill>
                  <a:srgbClr val="1F3864"/>
                </a:solidFill>
                <a:latin typeface="Arial" pitchFamily="34" charset="0"/>
                <a:ea typeface="Arial" pitchFamily="34" charset="-122"/>
                <a:cs typeface="Arial" pitchFamily="34" charset="-120"/>
              </a:rPr>
              <a:t xml:space="preserve"> 1</a:t>
            </a:r>
            <a:endParaRPr lang="en-US" sz="2600" dirty="0"/>
          </a:p>
        </p:txBody>
      </p:sp>
      <p:sp>
        <p:nvSpPr>
          <p:cNvPr id="5" name="Shape 3"/>
          <p:cNvSpPr/>
          <p:nvPr/>
        </p:nvSpPr>
        <p:spPr>
          <a:xfrm>
            <a:off x="502920" y="1060704"/>
            <a:ext cx="11185855" cy="0"/>
          </a:xfrm>
          <a:prstGeom prst="line">
            <a:avLst/>
          </a:prstGeom>
          <a:noFill/>
          <a:ln w="19050">
            <a:solidFill>
              <a:srgbClr val="16294F"/>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5855" cy="4251960"/>
        </p:xfrm>
        <a:graphic>
          <a:graphicData uri="http://schemas.openxmlformats.org/drawingml/2006/table">
            <a:tbl>
              <a:tblPr/>
              <a:tblGrid>
                <a:gridCol w="384048">
                  <a:extLst>
                    <a:ext uri="{9D8B030D-6E8A-4147-A177-3AD203B41FA5}">
                      <a16:colId xmlns:a16="http://schemas.microsoft.com/office/drawing/2014/main" val="20000"/>
                    </a:ext>
                  </a:extLst>
                </a:gridCol>
                <a:gridCol w="10801807">
                  <a:extLst>
                    <a:ext uri="{9D8B030D-6E8A-4147-A177-3AD203B41FA5}">
                      <a16:colId xmlns:a16="http://schemas.microsoft.com/office/drawing/2014/main" val="20001"/>
                    </a:ext>
                  </a:extLst>
                </a:gridCol>
              </a:tblGrid>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B</a:t>
                      </a:r>
                      <a:r>
                        <a:rPr lang="en-US" sz="1500" b="1" dirty="0">
                          <a:solidFill>
                            <a:srgbClr val="1F3864"/>
                          </a:solidFill>
                          <a:latin typeface="Arial" pitchFamily="34" charset="0"/>
                          <a:ea typeface="Arial" pitchFamily="34" charset="-122"/>
                          <a:cs typeface="Arial" pitchFamily="34" charset="-120"/>
                        </a:rPr>
                        <a:t>ACK</a:t>
                      </a:r>
                      <a:r>
                        <a:rPr lang="en-US" sz="1800" b="1" dirty="0">
                          <a:solidFill>
                            <a:srgbClr val="1F3864"/>
                          </a:solidFill>
                          <a:latin typeface="Arial" pitchFamily="34" charset="0"/>
                          <a:ea typeface="Arial" pitchFamily="34" charset="-122"/>
                          <a:cs typeface="Arial" pitchFamily="34" charset="-120"/>
                        </a:rPr>
                        <a:t>-T</a:t>
                      </a:r>
                      <a:r>
                        <a:rPr lang="en-US" sz="1500" b="1" dirty="0">
                          <a:solidFill>
                            <a:srgbClr val="1F3864"/>
                          </a:solidFill>
                          <a:latin typeface="Arial" pitchFamily="34" charset="0"/>
                          <a:ea typeface="Arial" pitchFamily="34" charset="-122"/>
                          <a:cs typeface="Arial" pitchFamily="34" charset="-120"/>
                        </a:rPr>
                        <a:t>O</a:t>
                      </a:r>
                      <a:r>
                        <a:rPr lang="en-US" sz="1800" b="1" dirty="0">
                          <a:solidFill>
                            <a:srgbClr val="1F3864"/>
                          </a:solidFill>
                          <a:latin typeface="Arial" pitchFamily="34" charset="0"/>
                          <a:ea typeface="Arial" pitchFamily="34" charset="-122"/>
                          <a:cs typeface="Arial" pitchFamily="34" charset="-120"/>
                        </a:rPr>
                        <a:t>-B</a:t>
                      </a:r>
                      <a:r>
                        <a:rPr lang="en-US" sz="1500" b="1" dirty="0">
                          <a:solidFill>
                            <a:srgbClr val="1F3864"/>
                          </a:solidFill>
                          <a:latin typeface="Arial" pitchFamily="34" charset="0"/>
                          <a:ea typeface="Arial" pitchFamily="34" charset="-122"/>
                          <a:cs typeface="Arial" pitchFamily="34" charset="-120"/>
                        </a:rPr>
                        <a:t>ACK</a:t>
                      </a:r>
                      <a:r>
                        <a:rPr lang="en-US" sz="1800" b="1" dirty="0">
                          <a:solidFill>
                            <a:srgbClr val="1F3864"/>
                          </a:solidFill>
                          <a:latin typeface="Arial" pitchFamily="34" charset="0"/>
                          <a:ea typeface="Arial" pitchFamily="34" charset="-122"/>
                          <a:cs typeface="Arial" pitchFamily="34" charset="-120"/>
                        </a:rPr>
                        <a:t xml:space="preserve"> W</a:t>
                      </a:r>
                      <a:r>
                        <a:rPr lang="en-US" sz="1500" b="1" dirty="0">
                          <a:solidFill>
                            <a:srgbClr val="1F3864"/>
                          </a:solidFill>
                          <a:latin typeface="Arial" pitchFamily="34" charset="0"/>
                          <a:ea typeface="Arial" pitchFamily="34" charset="-122"/>
                          <a:cs typeface="Arial" pitchFamily="34" charset="-120"/>
                        </a:rPr>
                        <a:t>ITH</a:t>
                      </a:r>
                      <a:r>
                        <a:rPr lang="en-US" sz="1800" b="1" dirty="0">
                          <a:solidFill>
                            <a:srgbClr val="1F3864"/>
                          </a:solidFill>
                          <a:latin typeface="Arial" pitchFamily="34" charset="0"/>
                          <a:ea typeface="Arial" pitchFamily="34" charset="-122"/>
                          <a:cs typeface="Arial" pitchFamily="34" charset="-120"/>
                        </a:rPr>
                        <a:t xml:space="preserve"> T</a:t>
                      </a:r>
                      <a:r>
                        <a:rPr lang="en-US" sz="1500" b="1" dirty="0">
                          <a:solidFill>
                            <a:srgbClr val="1F3864"/>
                          </a:solidFill>
                          <a:latin typeface="Arial" pitchFamily="34" charset="0"/>
                          <a:ea typeface="Arial" pitchFamily="34" charset="-122"/>
                          <a:cs typeface="Arial" pitchFamily="34" charset="-120"/>
                        </a:rPr>
                        <a:t>HE</a:t>
                      </a:r>
                      <a:r>
                        <a:rPr lang="en-US" sz="1800" b="1" dirty="0">
                          <a:solidFill>
                            <a:srgbClr val="1F3864"/>
                          </a:solidFill>
                          <a:latin typeface="Arial" pitchFamily="34" charset="0"/>
                          <a:ea typeface="Arial" pitchFamily="34" charset="-122"/>
                          <a:cs typeface="Arial" pitchFamily="34" charset="-120"/>
                        </a:rPr>
                        <a:t xml:space="preserve"> EPA</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The Contract now follows the Energy Purchase Agreement wherever it was looser.</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The Contractor only “confirms” consistency with the EPA; the priority of documents stood alone; amendments and financiers’ changes needed no Energy Purchaser consent.</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dirty="0">
                          <a:solidFill>
                            <a:srgbClr val="1F3864"/>
                          </a:solidFill>
                          <a:latin typeface="Arial" pitchFamily="34" charset="0"/>
                          <a:ea typeface="Arial" pitchFamily="34" charset="-122"/>
                          <a:cs typeface="Arial" pitchFamily="34" charset="-120"/>
                        </a:rPr>
                        <a:t>Where the Contract is less onerous than the EPA, the EPA prevails at no cost and no extension; EPA definitions imported; no amendment adverse to the Energy Purchaser without its consent.</a:t>
                      </a:r>
                      <a:endParaRPr lang="en-US" sz="1200" dirty="0">
                        <a:latin typeface="Arial" charset="0"/>
                        <a:ea typeface="Arial" charset="0"/>
                        <a:cs typeface="Arial" charset="0"/>
                      </a:endParaRPr>
                    </a:p>
                    <a:p>
                      <a:pPr marL="0" indent="0" algn="just">
                        <a:buNone/>
                      </a:pPr>
                      <a:r>
                        <a:rPr lang="en-US" sz="1400" dirty="0">
                          <a:solidFill>
                            <a:srgbClr val="000000"/>
                          </a:solidFill>
                          <a:latin typeface="Arial" pitchFamily="34" charset="0"/>
                          <a:ea typeface="Arial" pitchFamily="34" charset="-122"/>
                          <a:cs typeface="Arial" pitchFamily="34" charset="-120"/>
                        </a:rPr>
                        <a:t xml:space="preserve"> </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C</a:t>
                      </a:r>
                      <a:r>
                        <a:rPr lang="en-US" sz="1500" b="1" dirty="0">
                          <a:solidFill>
                            <a:srgbClr val="1F3864"/>
                          </a:solidFill>
                          <a:latin typeface="Arial" pitchFamily="34" charset="0"/>
                          <a:ea typeface="Arial" pitchFamily="34" charset="-122"/>
                          <a:cs typeface="Arial" pitchFamily="34" charset="-120"/>
                        </a:rPr>
                        <a:t>HANGE</a:t>
                      </a:r>
                      <a:r>
                        <a:rPr lang="en-US" sz="1800" b="1" dirty="0">
                          <a:solidFill>
                            <a:srgbClr val="1F3864"/>
                          </a:solidFill>
                          <a:latin typeface="Arial" pitchFamily="34" charset="0"/>
                          <a:ea typeface="Arial" pitchFamily="34" charset="-122"/>
                          <a:cs typeface="Arial" pitchFamily="34" charset="-120"/>
                        </a:rPr>
                        <a:t xml:space="preserve"> I</a:t>
                      </a:r>
                      <a:r>
                        <a:rPr lang="en-US" sz="1500" b="1" dirty="0">
                          <a:solidFill>
                            <a:srgbClr val="1F3864"/>
                          </a:solidFill>
                          <a:latin typeface="Arial" pitchFamily="34" charset="0"/>
                          <a:ea typeface="Arial" pitchFamily="34" charset="-122"/>
                          <a:cs typeface="Arial" pitchFamily="34" charset="-120"/>
                        </a:rPr>
                        <a:t>N</a:t>
                      </a:r>
                      <a:r>
                        <a:rPr lang="en-US" sz="1800" b="1" dirty="0">
                          <a:solidFill>
                            <a:srgbClr val="1F3864"/>
                          </a:solidFill>
                          <a:latin typeface="Arial" pitchFamily="34" charset="0"/>
                          <a:ea typeface="Arial" pitchFamily="34" charset="-122"/>
                          <a:cs typeface="Arial" pitchFamily="34" charset="-120"/>
                        </a:rPr>
                        <a:t xml:space="preserve"> L</a:t>
                      </a:r>
                      <a:r>
                        <a:rPr lang="en-US" sz="1500" b="1" dirty="0">
                          <a:solidFill>
                            <a:srgbClr val="1F3864"/>
                          </a:solidFill>
                          <a:latin typeface="Arial" pitchFamily="34" charset="0"/>
                          <a:ea typeface="Arial" pitchFamily="34" charset="-122"/>
                          <a:cs typeface="Arial" pitchFamily="34" charset="-120"/>
                        </a:rPr>
                        <a:t>AW</a:t>
                      </a:r>
                      <a:r>
                        <a:rPr lang="en-US" sz="1800" b="1" dirty="0">
                          <a:solidFill>
                            <a:srgbClr val="1F3864"/>
                          </a:solidFill>
                          <a:latin typeface="Arial" pitchFamily="34" charset="0"/>
                          <a:ea typeface="Arial" pitchFamily="34" charset="-122"/>
                          <a:cs typeface="Arial" pitchFamily="34" charset="-120"/>
                        </a:rPr>
                        <a:t>, T</a:t>
                      </a:r>
                      <a:r>
                        <a:rPr lang="en-US" sz="1500" b="1" dirty="0">
                          <a:solidFill>
                            <a:srgbClr val="1F3864"/>
                          </a:solidFill>
                          <a:latin typeface="Arial" pitchFamily="34" charset="0"/>
                          <a:ea typeface="Arial" pitchFamily="34" charset="-122"/>
                          <a:cs typeface="Arial" pitchFamily="34" charset="-120"/>
                        </a:rPr>
                        <a:t>AX</a:t>
                      </a:r>
                      <a:r>
                        <a:rPr lang="en-US" sz="1800" b="1" dirty="0">
                          <a:solidFill>
                            <a:srgbClr val="1F3864"/>
                          </a:solidFill>
                          <a:latin typeface="Arial" pitchFamily="34" charset="0"/>
                          <a:ea typeface="Arial" pitchFamily="34" charset="-122"/>
                          <a:cs typeface="Arial" pitchFamily="34" charset="-120"/>
                        </a:rPr>
                        <a:t xml:space="preserve"> A</a:t>
                      </a:r>
                      <a:r>
                        <a:rPr lang="en-US" sz="1500" b="1" dirty="0">
                          <a:solidFill>
                            <a:srgbClr val="1F3864"/>
                          </a:solidFill>
                          <a:latin typeface="Arial" pitchFamily="34" charset="0"/>
                          <a:ea typeface="Arial" pitchFamily="34" charset="-122"/>
                          <a:cs typeface="Arial" pitchFamily="34" charset="-120"/>
                        </a:rPr>
                        <a:t>ND</a:t>
                      </a:r>
                      <a:r>
                        <a:rPr lang="en-US" sz="1800" b="1" dirty="0">
                          <a:solidFill>
                            <a:srgbClr val="1F3864"/>
                          </a:solidFill>
                          <a:latin typeface="Arial" pitchFamily="34" charset="0"/>
                          <a:ea typeface="Arial" pitchFamily="34" charset="-122"/>
                          <a:cs typeface="Arial" pitchFamily="34" charset="-120"/>
                        </a:rPr>
                        <a:t xml:space="preserve"> C</a:t>
                      </a:r>
                      <a:r>
                        <a:rPr lang="en-US" sz="1500" b="1" dirty="0">
                          <a:solidFill>
                            <a:srgbClr val="1F3864"/>
                          </a:solidFill>
                          <a:latin typeface="Arial" pitchFamily="34" charset="0"/>
                          <a:ea typeface="Arial" pitchFamily="34" charset="-122"/>
                          <a:cs typeface="Arial" pitchFamily="34" charset="-120"/>
                        </a:rPr>
                        <a:t>ONSENTS</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Thresholds, dates and relief aligned to the EPA.</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 xml:space="preserve">Change in Law measured from the Effective Date, with any </a:t>
                      </a:r>
                      <a:r>
                        <a:rPr lang="en-US" sz="1500" b="1" dirty="0">
                          <a:solidFill>
                            <a:srgbClr val="1F3864"/>
                          </a:solidFill>
                          <a:latin typeface="Arial" pitchFamily="34" charset="0"/>
                          <a:ea typeface="Arial" pitchFamily="34" charset="-122"/>
                          <a:cs typeface="Arial" pitchFamily="34" charset="-120"/>
                        </a:rPr>
                        <a:t>10%</a:t>
                      </a:r>
                      <a:r>
                        <a:rPr lang="en-US" sz="1500" dirty="0">
                          <a:solidFill>
                            <a:srgbClr val="1F3864"/>
                          </a:solidFill>
                          <a:latin typeface="Arial" pitchFamily="34" charset="0"/>
                          <a:ea typeface="Arial" pitchFamily="34" charset="-122"/>
                          <a:cs typeface="Arial" pitchFamily="34" charset="-120"/>
                        </a:rPr>
                        <a:t xml:space="preserve"> cost change qualifying; no Change in Tax procedure; Lapse of Consent not addressed.</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dirty="0">
                          <a:solidFill>
                            <a:srgbClr val="1F3864"/>
                          </a:solidFill>
                          <a:latin typeface="Arial" pitchFamily="34" charset="0"/>
                          <a:ea typeface="Arial" pitchFamily="34" charset="-122"/>
                          <a:cs typeface="Arial" pitchFamily="34" charset="-120"/>
                        </a:rPr>
                        <a:t xml:space="preserve">Change in Law runs from the EPA Bid Submission Date and is the Contractor’s cost below </a:t>
                      </a:r>
                      <a:r>
                        <a:rPr lang="en-US" sz="1500" b="1" dirty="0">
                          <a:solidFill>
                            <a:srgbClr val="1F3864"/>
                          </a:solidFill>
                          <a:latin typeface="Arial" pitchFamily="34" charset="0"/>
                          <a:ea typeface="Arial" pitchFamily="34" charset="-122"/>
                          <a:cs typeface="Arial" pitchFamily="34" charset="-120"/>
                        </a:rPr>
                        <a:t>10%</a:t>
                      </a:r>
                      <a:r>
                        <a:rPr lang="en-US" sz="1500" dirty="0">
                          <a:solidFill>
                            <a:srgbClr val="1F3864"/>
                          </a:solidFill>
                          <a:latin typeface="Arial" pitchFamily="34" charset="0"/>
                          <a:ea typeface="Arial" pitchFamily="34" charset="-122"/>
                          <a:cs typeface="Arial" pitchFamily="34" charset="-120"/>
                        </a:rPr>
                        <a:t xml:space="preserve"> of the Contract Price; Change in Tax notified in </a:t>
                      </a:r>
                      <a:r>
                        <a:rPr lang="en-US" sz="1500" b="1" dirty="0">
                          <a:solidFill>
                            <a:srgbClr val="1F3864"/>
                          </a:solidFill>
                          <a:latin typeface="Arial" pitchFamily="34" charset="0"/>
                          <a:ea typeface="Arial" pitchFamily="34" charset="-122"/>
                          <a:cs typeface="Arial" pitchFamily="34" charset="-120"/>
                        </a:rPr>
                        <a:t>10 days</a:t>
                      </a:r>
                      <a:r>
                        <a:rPr lang="en-US" sz="1500" dirty="0">
                          <a:solidFill>
                            <a:srgbClr val="1F3864"/>
                          </a:solidFill>
                          <a:latin typeface="Arial" pitchFamily="34" charset="0"/>
                          <a:ea typeface="Arial" pitchFamily="34" charset="-122"/>
                          <a:cs typeface="Arial" pitchFamily="34" charset="-120"/>
                        </a:rPr>
                        <a:t>; Lapse of Consent treated as in the EPA.</a:t>
                      </a:r>
                      <a:endParaRPr lang="en-US" sz="1200" dirty="0">
                        <a:latin typeface="Arial" charset="0"/>
                        <a:ea typeface="Arial" charset="0"/>
                        <a:cs typeface="Arial" charset="0"/>
                      </a:endParaRPr>
                    </a:p>
                    <a:p>
                      <a:pPr marL="0" indent="0" algn="just">
                        <a:buNone/>
                      </a:pPr>
                      <a:r>
                        <a:rPr lang="en-US" sz="1400" dirty="0">
                          <a:solidFill>
                            <a:srgbClr val="000000"/>
                          </a:solidFill>
                          <a:latin typeface="Arial" pitchFamily="34" charset="0"/>
                          <a:ea typeface="Arial" pitchFamily="34" charset="-122"/>
                          <a:cs typeface="Arial" pitchFamily="34" charset="-120"/>
                        </a:rPr>
                        <a:t xml:space="preserve"> </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T</a:t>
                      </a:r>
                      <a:r>
                        <a:rPr lang="en-US" sz="1500" b="1" dirty="0">
                          <a:solidFill>
                            <a:srgbClr val="1F3864"/>
                          </a:solidFill>
                          <a:latin typeface="Arial" pitchFamily="34" charset="0"/>
                          <a:ea typeface="Arial" pitchFamily="34" charset="-122"/>
                          <a:cs typeface="Arial" pitchFamily="34" charset="-120"/>
                        </a:rPr>
                        <a:t>IME</a:t>
                      </a:r>
                      <a:r>
                        <a:rPr lang="en-US" sz="1800" b="1" dirty="0">
                          <a:solidFill>
                            <a:srgbClr val="1F3864"/>
                          </a:solidFill>
                          <a:latin typeface="Arial" pitchFamily="34" charset="0"/>
                          <a:ea typeface="Arial" pitchFamily="34" charset="-122"/>
                          <a:cs typeface="Arial" pitchFamily="34" charset="-120"/>
                        </a:rPr>
                        <a:t>, O</a:t>
                      </a:r>
                      <a:r>
                        <a:rPr lang="en-US" sz="1500" b="1" dirty="0">
                          <a:solidFill>
                            <a:srgbClr val="1F3864"/>
                          </a:solidFill>
                          <a:latin typeface="Arial" pitchFamily="34" charset="0"/>
                          <a:ea typeface="Arial" pitchFamily="34" charset="-122"/>
                          <a:cs typeface="Arial" pitchFamily="34" charset="-120"/>
                        </a:rPr>
                        <a:t>UTPUT</a:t>
                      </a:r>
                      <a:r>
                        <a:rPr lang="en-US" sz="1800" b="1" dirty="0">
                          <a:solidFill>
                            <a:srgbClr val="1F3864"/>
                          </a:solidFill>
                          <a:latin typeface="Arial" pitchFamily="34" charset="0"/>
                          <a:ea typeface="Arial" pitchFamily="34" charset="-122"/>
                          <a:cs typeface="Arial" pitchFamily="34" charset="-120"/>
                        </a:rPr>
                        <a:t xml:space="preserve"> A</a:t>
                      </a:r>
                      <a:r>
                        <a:rPr lang="en-US" sz="1500" b="1" dirty="0">
                          <a:solidFill>
                            <a:srgbClr val="1F3864"/>
                          </a:solidFill>
                          <a:latin typeface="Arial" pitchFamily="34" charset="0"/>
                          <a:ea typeface="Arial" pitchFamily="34" charset="-122"/>
                          <a:cs typeface="Arial" pitchFamily="34" charset="-120"/>
                        </a:rPr>
                        <a:t>ND</a:t>
                      </a:r>
                      <a:r>
                        <a:rPr lang="en-US" sz="1800" b="1" dirty="0">
                          <a:solidFill>
                            <a:srgbClr val="1F3864"/>
                          </a:solidFill>
                          <a:latin typeface="Arial" pitchFamily="34" charset="0"/>
                          <a:ea typeface="Arial" pitchFamily="34" charset="-122"/>
                          <a:cs typeface="Arial" pitchFamily="34" charset="-120"/>
                        </a:rPr>
                        <a:t xml:space="preserve"> C</a:t>
                      </a:r>
                      <a:r>
                        <a:rPr lang="en-US" sz="1500" b="1" dirty="0">
                          <a:solidFill>
                            <a:srgbClr val="1F3864"/>
                          </a:solidFill>
                          <a:latin typeface="Arial" pitchFamily="34" charset="0"/>
                          <a:ea typeface="Arial" pitchFamily="34" charset="-122"/>
                          <a:cs typeface="Arial" pitchFamily="34" charset="-120"/>
                        </a:rPr>
                        <a:t>APACITY</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Damages and warranties that track the EPA’s dates and output.</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 xml:space="preserve">No remedy for late bonds; Delay Damages only from the Time for Completion; design life </a:t>
                      </a:r>
                      <a:r>
                        <a:rPr lang="en-US" sz="1500" b="1" dirty="0">
                          <a:solidFill>
                            <a:srgbClr val="1F3864"/>
                          </a:solidFill>
                          <a:latin typeface="Arial" pitchFamily="34" charset="0"/>
                          <a:ea typeface="Arial" pitchFamily="34" charset="-122"/>
                          <a:cs typeface="Arial" pitchFamily="34" charset="-120"/>
                        </a:rPr>
                        <a:t>25 years</a:t>
                      </a:r>
                      <a:r>
                        <a:rPr lang="en-US" sz="1500" dirty="0">
                          <a:solidFill>
                            <a:srgbClr val="1F3864"/>
                          </a:solidFill>
                          <a:latin typeface="Arial" pitchFamily="34" charset="0"/>
                          <a:ea typeface="Arial" pitchFamily="34" charset="-122"/>
                          <a:cs typeface="Arial" pitchFamily="34" charset="-120"/>
                        </a:rPr>
                        <a:t xml:space="preserve"> from Taking-Over; no output warranty; capacity “no less than” the ER.</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b="1" dirty="0">
                          <a:solidFill>
                            <a:srgbClr val="1F3864"/>
                          </a:solidFill>
                          <a:latin typeface="Arial" pitchFamily="34" charset="0"/>
                          <a:ea typeface="Arial" pitchFamily="34" charset="-122"/>
                          <a:cs typeface="Arial" pitchFamily="34" charset="-120"/>
                        </a:rPr>
                        <a:t>USD [insert]</a:t>
                      </a:r>
                      <a:r>
                        <a:rPr lang="en-US" sz="1500" dirty="0">
                          <a:solidFill>
                            <a:srgbClr val="1F3864"/>
                          </a:solidFill>
                          <a:latin typeface="Arial" pitchFamily="34" charset="0"/>
                          <a:ea typeface="Arial" pitchFamily="34" charset="-122"/>
                          <a:cs typeface="Arial" pitchFamily="34" charset="-120"/>
                        </a:rPr>
                        <a:t xml:space="preserve"> per day for late bonds; Delay Damages from </a:t>
                      </a:r>
                      <a:r>
                        <a:rPr lang="en-US" sz="1500" b="1" dirty="0">
                          <a:solidFill>
                            <a:srgbClr val="1F3864"/>
                          </a:solidFill>
                          <a:latin typeface="Arial" pitchFamily="34" charset="0"/>
                          <a:ea typeface="Arial" pitchFamily="34" charset="-122"/>
                          <a:cs typeface="Arial" pitchFamily="34" charset="-120"/>
                        </a:rPr>
                        <a:t>30 days</a:t>
                      </a:r>
                      <a:r>
                        <a:rPr lang="en-US" sz="1500" dirty="0">
                          <a:solidFill>
                            <a:srgbClr val="1F3864"/>
                          </a:solidFill>
                          <a:latin typeface="Arial" pitchFamily="34" charset="0"/>
                          <a:ea typeface="Arial" pitchFamily="34" charset="-122"/>
                          <a:cs typeface="Arial" pitchFamily="34" charset="-120"/>
                        </a:rPr>
                        <a:t xml:space="preserve"> before the Required COD; design life not less than the EPA Term; Annual Benchmark Energy warranty; </a:t>
                      </a:r>
                      <a:r>
                        <a:rPr lang="en-US" sz="1500" b="1" dirty="0">
                          <a:solidFill>
                            <a:srgbClr val="1F3864"/>
                          </a:solidFill>
                          <a:latin typeface="Arial" pitchFamily="34" charset="0"/>
                          <a:ea typeface="Arial" pitchFamily="34" charset="-122"/>
                          <a:cs typeface="Arial" pitchFamily="34" charset="-120"/>
                        </a:rPr>
                        <a:t>USD 400,000</a:t>
                      </a:r>
                      <a:r>
                        <a:rPr lang="en-US" sz="1500" dirty="0">
                          <a:solidFill>
                            <a:srgbClr val="1F3864"/>
                          </a:solidFill>
                          <a:latin typeface="Arial" pitchFamily="34" charset="0"/>
                          <a:ea typeface="Arial" pitchFamily="34" charset="-122"/>
                          <a:cs typeface="Arial" pitchFamily="34" charset="-120"/>
                        </a:rPr>
                        <a:t xml:space="preserve"> per MW of capacity shortfall.</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bl>
          </a:graphicData>
        </a:graphic>
      </p:graphicFrame>
      <p:pic>
        <p:nvPicPr>
          <p:cNvPr id="7" name="Image 0" descr="/home/claude/riali-pptx/logo.jpeg"/>
          <p:cNvPicPr>
            <a:picLocks noChangeAspect="1"/>
          </p:cNvPicPr>
          <p:nvPr/>
        </p:nvPicPr>
        <p:blipFill>
          <a:blip r:embed="rId4"/>
          <a:stretch>
            <a:fillRect/>
          </a:stretch>
        </p:blipFill>
        <p:spPr>
          <a:xfrm>
            <a:off x="274320" y="5925312"/>
            <a:ext cx="548640" cy="548640"/>
          </a:xfrm>
          <a:prstGeom prst="rect">
            <a:avLst/>
          </a:prstGeom>
        </p:spPr>
      </p:pic>
      <p:sp>
        <p:nvSpPr>
          <p:cNvPr id="8" name="Text 4"/>
          <p:cNvSpPr txBox="1"/>
          <p:nvPr/>
        </p:nvSpPr>
        <p:spPr>
          <a:xfrm>
            <a:off x="0" y="6419088"/>
            <a:ext cx="12191695" cy="237744"/>
          </a:xfrm>
          <a:prstGeom prst="rect">
            <a:avLst/>
          </a:prstGeom>
          <a:noFill/>
          <a:ln/>
        </p:spPr>
        <p:txBody>
          <a:bodyPr wrap="square" lIns="0" tIns="0" rIns="0" bIns="0" rtlCol="0" anchor="ctr"/>
          <a:lstStyle/>
          <a:p>
            <a:pPr marL="0" indent="0" algn="ctr">
              <a:buNone/>
            </a:pPr>
            <a:r>
              <a:rPr lang="en-US" sz="1050" dirty="0">
                <a:solidFill>
                  <a:srgbClr val="8A8F98"/>
                </a:solidFill>
                <a:latin typeface="Arial" pitchFamily="34" charset="0"/>
                <a:ea typeface="Arial" pitchFamily="34" charset="-122"/>
                <a:cs typeface="Arial" pitchFamily="34" charset="-120"/>
              </a:rPr>
              <a:t>https://akla.com.pk/</a:t>
            </a:r>
            <a:endParaRPr lang="en-US" sz="1050" dirty="0"/>
          </a:p>
        </p:txBody>
      </p:sp>
      <p:sp>
        <p:nvSpPr>
          <p:cNvPr id="9" name="Text 5"/>
          <p:cNvSpPr txBox="1"/>
          <p:nvPr/>
        </p:nvSpPr>
        <p:spPr>
          <a:xfrm>
            <a:off x="11460175" y="6419088"/>
            <a:ext cx="502920" cy="237744"/>
          </a:xfrm>
          <a:prstGeom prst="rect">
            <a:avLst/>
          </a:prstGeom>
          <a:noFill/>
          <a:ln/>
        </p:spPr>
        <p:txBody>
          <a:bodyPr wrap="square" lIns="0" tIns="0" rIns="0" bIns="0" rtlCol="0" anchor="ctr"/>
          <a:lstStyle/>
          <a:p>
            <a:pPr marL="0" indent="0" algn="r">
              <a:buNone/>
            </a:pPr>
            <a:r>
              <a:rPr lang="en-US" sz="1100" dirty="0">
                <a:solidFill>
                  <a:srgbClr val="1F3864"/>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0F2557"/>
          </a:solidFill>
          <a:ln/>
        </p:spPr>
        <p:txBody>
          <a:bodyPr/>
          <a:lstStyle/>
          <a:p>
            <a:endParaRPr lang="en-US"/>
          </a:p>
        </p:txBody>
      </p:sp>
      <p:sp>
        <p:nvSpPr>
          <p:cNvPr id="3" name="Text 1"/>
          <p:cNvSpPr txBox="1"/>
          <p:nvPr/>
        </p:nvSpPr>
        <p:spPr>
          <a:xfrm>
            <a:off x="228600" y="0"/>
            <a:ext cx="11734495" cy="274320"/>
          </a:xfrm>
          <a:prstGeom prst="rect">
            <a:avLst/>
          </a:prstGeom>
          <a:noFill/>
          <a:ln/>
        </p:spPr>
        <p:txBody>
          <a:bodyPr wrap="square" lIns="0" tIns="0" rIns="0" bIns="0" rtlCol="0" anchor="ctr"/>
          <a:lstStyle/>
          <a:p>
            <a:pPr marL="0" indent="0" algn="l">
              <a:buNone/>
            </a:pPr>
            <a:r>
              <a:rPr lang="en-US" sz="1050" b="1" kern="0" spc="100" dirty="0">
                <a:solidFill>
                  <a:srgbClr val="F2A900"/>
                </a:solidFill>
                <a:latin typeface="Arial" pitchFamily="34" charset="0"/>
                <a:ea typeface="Arial" pitchFamily="34" charset="-122"/>
                <a:cs typeface="Arial" pitchFamily="34" charset="-120"/>
              </a:rPr>
              <a:t xml:space="preserve">P</a:t>
            </a:r>
            <a:r>
              <a:rPr lang="en-US" sz="850" b="1" kern="0" spc="100" dirty="0">
                <a:solidFill>
                  <a:srgbClr val="F2A900"/>
                </a:solidFill>
                <a:latin typeface="Arial" pitchFamily="34" charset="0"/>
                <a:ea typeface="Arial" pitchFamily="34" charset="-122"/>
                <a:cs typeface="Arial" pitchFamily="34" charset="-120"/>
              </a:rPr>
              <a:t xml:space="preserve">RESENTATION</a:t>
            </a:r>
            <a:r>
              <a:rPr lang="en-US" sz="1050" b="1" kern="0" spc="100" dirty="0">
                <a:solidFill>
                  <a:srgbClr val="F2A900"/>
                </a:solidFill>
                <a:latin typeface="Arial" pitchFamily="34" charset="0"/>
                <a:ea typeface="Arial" pitchFamily="34" charset="-122"/>
                <a:cs typeface="Arial" pitchFamily="34" charset="-120"/>
              </a:rPr>
              <a:t xml:space="preserve"> P</a:t>
            </a:r>
            <a:r>
              <a:rPr lang="en-US" sz="850" b="1" kern="0" spc="100" dirty="0">
                <a:solidFill>
                  <a:srgbClr val="F2A900"/>
                </a:solidFill>
                <a:latin typeface="Arial" pitchFamily="34" charset="0"/>
                <a:ea typeface="Arial" pitchFamily="34" charset="-122"/>
                <a:cs typeface="Arial" pitchFamily="34" charset="-120"/>
              </a:rPr>
              <a:t xml:space="preserve">ERTAINING</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O</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HE</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ONSTRUCTION</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ONTRACT</a:t>
            </a:r>
            <a:r>
              <a:rPr lang="en-US" sz="1050" b="1" kern="0" spc="100" dirty="0">
                <a:solidFill>
                  <a:srgbClr val="F2A900"/>
                </a:solidFill>
                <a:latin typeface="Arial" pitchFamily="34" charset="0"/>
                <a:ea typeface="Arial" pitchFamily="34" charset="-122"/>
                <a:cs typeface="Arial" pitchFamily="34" charset="-120"/>
              </a:rPr>
              <a:t xml:space="preserve"> F</a:t>
            </a:r>
            <a:r>
              <a:rPr lang="en-US" sz="850" b="1" kern="0" spc="100" dirty="0">
                <a:solidFill>
                  <a:srgbClr val="F2A900"/>
                </a:solidFill>
                <a:latin typeface="Arial" pitchFamily="34" charset="0"/>
                <a:ea typeface="Arial" pitchFamily="34" charset="-122"/>
                <a:cs typeface="Arial" pitchFamily="34" charset="-120"/>
              </a:rPr>
              <a:t xml:space="preserve">OR</a:t>
            </a:r>
            <a:r>
              <a:rPr lang="en-US" sz="1050" b="1" kern="0" spc="100" dirty="0">
                <a:solidFill>
                  <a:srgbClr val="F2A900"/>
                </a:solidFill>
                <a:latin typeface="Arial" pitchFamily="34" charset="0"/>
                <a:ea typeface="Arial" pitchFamily="34" charset="-122"/>
                <a:cs typeface="Arial" pitchFamily="34" charset="-120"/>
              </a:rPr>
              <a:t xml:space="preserve"> T</a:t>
            </a:r>
            <a:r>
              <a:rPr lang="en-US" sz="850" b="1" kern="0" spc="100" dirty="0">
                <a:solidFill>
                  <a:srgbClr val="F2A900"/>
                </a:solidFill>
                <a:latin typeface="Arial" pitchFamily="34" charset="0"/>
                <a:ea typeface="Arial" pitchFamily="34" charset="-122"/>
                <a:cs typeface="Arial" pitchFamily="34" charset="-120"/>
              </a:rPr>
              <a:t xml:space="preserve">HE</a:t>
            </a:r>
            <a:r>
              <a:rPr lang="en-US" sz="1050" b="1" kern="0" spc="100" dirty="0">
                <a:solidFill>
                  <a:srgbClr val="F2A900"/>
                </a:solidFill>
                <a:latin typeface="Arial" pitchFamily="34" charset="0"/>
                <a:ea typeface="Arial" pitchFamily="34" charset="-122"/>
                <a:cs typeface="Arial" pitchFamily="34" charset="-120"/>
              </a:rPr>
              <a:t xml:space="preserve"> D</a:t>
            </a:r>
            <a:r>
              <a:rPr lang="en-US" sz="850" b="1" kern="0" spc="100" dirty="0">
                <a:solidFill>
                  <a:srgbClr val="F2A900"/>
                </a:solidFill>
                <a:latin typeface="Arial" pitchFamily="34" charset="0"/>
                <a:ea typeface="Arial" pitchFamily="34" charset="-122"/>
                <a:cs typeface="Arial" pitchFamily="34" charset="-120"/>
              </a:rPr>
              <a:t xml:space="preserve">HABEJI</a:t>
            </a:r>
            <a:r>
              <a:rPr lang="en-US" sz="1050" b="1" kern="0" spc="100" dirty="0">
                <a:solidFill>
                  <a:srgbClr val="F2A900"/>
                </a:solidFill>
                <a:latin typeface="Arial" pitchFamily="34" charset="0"/>
                <a:ea typeface="Arial" pitchFamily="34" charset="-122"/>
                <a:cs typeface="Arial" pitchFamily="34" charset="-120"/>
              </a:rPr>
              <a:t xml:space="preserve"> S</a:t>
            </a:r>
            <a:r>
              <a:rPr lang="en-US" sz="850" b="1" kern="0" spc="100" dirty="0">
                <a:solidFill>
                  <a:srgbClr val="F2A900"/>
                </a:solidFill>
                <a:latin typeface="Arial" pitchFamily="34" charset="0"/>
                <a:ea typeface="Arial" pitchFamily="34" charset="-122"/>
                <a:cs typeface="Arial" pitchFamily="34" charset="-120"/>
              </a:rPr>
              <a:t xml:space="preserve">OLAR</a:t>
            </a:r>
            <a:r>
              <a:rPr lang="en-US" sz="1050" b="1" kern="0" spc="100" dirty="0">
                <a:solidFill>
                  <a:srgbClr val="F2A900"/>
                </a:solidFill>
                <a:latin typeface="Arial" pitchFamily="34" charset="0"/>
                <a:ea typeface="Arial" pitchFamily="34" charset="-122"/>
                <a:cs typeface="Arial" pitchFamily="34" charset="-120"/>
              </a:rPr>
              <a:t xml:space="preserve"> A</a:t>
            </a:r>
            <a:r>
              <a:rPr lang="en-US" sz="850" b="1" kern="0" spc="100" dirty="0">
                <a:solidFill>
                  <a:srgbClr val="F2A900"/>
                </a:solidFill>
                <a:latin typeface="Arial" pitchFamily="34" charset="0"/>
                <a:ea typeface="Arial" pitchFamily="34" charset="-122"/>
                <a:cs typeface="Arial" pitchFamily="34" charset="-120"/>
              </a:rPr>
              <a:t xml:space="preserve">ND</a:t>
            </a:r>
            <a:r>
              <a:rPr lang="en-US" sz="1050" b="1" kern="0" spc="100" dirty="0">
                <a:solidFill>
                  <a:srgbClr val="F2A900"/>
                </a:solidFill>
                <a:latin typeface="Arial" pitchFamily="34" charset="0"/>
                <a:ea typeface="Arial" pitchFamily="34" charset="-122"/>
                <a:cs typeface="Arial" pitchFamily="34" charset="-120"/>
              </a:rPr>
              <a:t xml:space="preserve"> W</a:t>
            </a:r>
            <a:r>
              <a:rPr lang="en-US" sz="850" b="1" kern="0" spc="100" dirty="0">
                <a:solidFill>
                  <a:srgbClr val="F2A900"/>
                </a:solidFill>
                <a:latin typeface="Arial" pitchFamily="34" charset="0"/>
                <a:ea typeface="Arial" pitchFamily="34" charset="-122"/>
                <a:cs typeface="Arial" pitchFamily="34" charset="-120"/>
              </a:rPr>
              <a:t xml:space="preserve">IND</a:t>
            </a:r>
            <a:r>
              <a:rPr lang="en-US" sz="1050" b="1" kern="0" spc="100" dirty="0">
                <a:solidFill>
                  <a:srgbClr val="F2A900"/>
                </a:solidFill>
                <a:latin typeface="Arial" pitchFamily="34" charset="0"/>
                <a:ea typeface="Arial" pitchFamily="34" charset="-122"/>
                <a:cs typeface="Arial" pitchFamily="34" charset="-120"/>
              </a:rPr>
              <a:t xml:space="preserve"> H</a:t>
            </a:r>
            <a:r>
              <a:rPr lang="en-US" sz="850" b="1" kern="0" spc="100" dirty="0">
                <a:solidFill>
                  <a:srgbClr val="F2A900"/>
                </a:solidFill>
                <a:latin typeface="Arial" pitchFamily="34" charset="0"/>
                <a:ea typeface="Arial" pitchFamily="34" charset="-122"/>
                <a:cs typeface="Arial" pitchFamily="34" charset="-120"/>
              </a:rPr>
              <a:t xml:space="preserve">YBRID</a:t>
            </a:r>
            <a:r>
              <a:rPr lang="en-US" sz="1050" b="1" kern="0" spc="100" dirty="0">
                <a:solidFill>
                  <a:srgbClr val="F2A900"/>
                </a:solidFill>
                <a:latin typeface="Arial" pitchFamily="34" charset="0"/>
                <a:ea typeface="Arial" pitchFamily="34" charset="-122"/>
                <a:cs typeface="Arial" pitchFamily="34" charset="-120"/>
              </a:rPr>
              <a:t xml:space="preserve"> P</a:t>
            </a:r>
            <a:r>
              <a:rPr lang="en-US" sz="850" b="1" kern="0" spc="100" dirty="0">
                <a:solidFill>
                  <a:srgbClr val="F2A900"/>
                </a:solidFill>
                <a:latin typeface="Arial" pitchFamily="34" charset="0"/>
                <a:ea typeface="Arial" pitchFamily="34" charset="-122"/>
                <a:cs typeface="Arial" pitchFamily="34" charset="-120"/>
              </a:rPr>
              <a:t xml:space="preserve">OWER</a:t>
            </a:r>
            <a:r>
              <a:rPr lang="en-US" sz="1050" b="1" kern="0" spc="100" dirty="0">
                <a:solidFill>
                  <a:srgbClr val="F2A900"/>
                </a:solidFill>
                <a:latin typeface="Arial" pitchFamily="34" charset="0"/>
                <a:ea typeface="Arial" pitchFamily="34" charset="-122"/>
                <a:cs typeface="Arial" pitchFamily="34" charset="-120"/>
              </a:rPr>
              <a:t xml:space="preserve"> C</a:t>
            </a:r>
            <a:r>
              <a:rPr lang="en-US" sz="850" b="1" kern="0" spc="100" dirty="0">
                <a:solidFill>
                  <a:srgbClr val="F2A900"/>
                </a:solidFill>
                <a:latin typeface="Arial" pitchFamily="34" charset="0"/>
                <a:ea typeface="Arial" pitchFamily="34" charset="-122"/>
                <a:cs typeface="Arial" pitchFamily="34" charset="-120"/>
              </a:rPr>
              <a:t xml:space="preserve">OMPLEX</a:t>
            </a:r>
            <a:endParaRPr lang="en-US" sz="1050" dirty="0"/>
          </a:p>
        </p:txBody>
      </p:sp>
      <p:sp>
        <p:nvSpPr>
          <p:cNvPr id="4" name="Text 2"/>
          <p:cNvSpPr txBox="1"/>
          <p:nvPr/>
        </p:nvSpPr>
        <p:spPr>
          <a:xfrm>
            <a:off x="502920" y="402336"/>
            <a:ext cx="11185855" cy="566928"/>
          </a:xfrm>
          <a:prstGeom prst="rect">
            <a:avLst/>
          </a:prstGeom>
          <a:noFill/>
          <a:ln/>
        </p:spPr>
        <p:txBody>
          <a:bodyPr wrap="square" lIns="0" tIns="0" rIns="0" bIns="0" rtlCol="0" anchor="ctr"/>
          <a:lstStyle/>
          <a:p>
            <a:pPr marL="0" indent="0" algn="l">
              <a:buNone/>
            </a:pPr>
            <a:r>
              <a:rPr lang="en-US" sz="2600" b="1" dirty="0">
                <a:solidFill>
                  <a:srgbClr val="1F3864"/>
                </a:solidFill>
                <a:latin typeface="Arial" pitchFamily="34" charset="0"/>
                <a:ea typeface="Arial" pitchFamily="34" charset="-122"/>
                <a:cs typeface="Arial" pitchFamily="34" charset="-120"/>
              </a:rPr>
              <a:t xml:space="preserve">K</a:t>
            </a:r>
            <a:r>
              <a:rPr lang="en-US" sz="2000" b="1" dirty="0">
                <a:solidFill>
                  <a:srgbClr val="1F3864"/>
                </a:solidFill>
                <a:latin typeface="Arial" pitchFamily="34" charset="0"/>
                <a:ea typeface="Arial" pitchFamily="34" charset="-122"/>
                <a:cs typeface="Arial" pitchFamily="34" charset="-120"/>
              </a:rPr>
              <a:t xml:space="preserve">EY</a:t>
            </a:r>
            <a:r>
              <a:rPr lang="en-US" sz="2600" b="1" dirty="0">
                <a:solidFill>
                  <a:srgbClr val="1F3864"/>
                </a:solidFill>
                <a:latin typeface="Arial" pitchFamily="34" charset="0"/>
                <a:ea typeface="Arial" pitchFamily="34" charset="-122"/>
                <a:cs typeface="Arial" pitchFamily="34" charset="-120"/>
              </a:rPr>
              <a:t xml:space="preserve"> M</a:t>
            </a:r>
            <a:r>
              <a:rPr lang="en-US" sz="2000" b="1" dirty="0">
                <a:solidFill>
                  <a:srgbClr val="1F3864"/>
                </a:solidFill>
                <a:latin typeface="Arial" pitchFamily="34" charset="0"/>
                <a:ea typeface="Arial" pitchFamily="34" charset="-122"/>
                <a:cs typeface="Arial" pitchFamily="34" charset="-120"/>
              </a:rPr>
              <a:t xml:space="preserve">ARK</a:t>
            </a:r>
            <a:r>
              <a:rPr lang="en-US" sz="2600" b="1" dirty="0">
                <a:solidFill>
                  <a:srgbClr val="1F3864"/>
                </a:solidFill>
                <a:latin typeface="Arial" pitchFamily="34" charset="0"/>
                <a:ea typeface="Arial" pitchFamily="34" charset="-122"/>
                <a:cs typeface="Arial" pitchFamily="34" charset="-120"/>
              </a:rPr>
              <a:t xml:space="preserve">-U</a:t>
            </a:r>
            <a:r>
              <a:rPr lang="en-US" sz="2000" b="1" dirty="0">
                <a:solidFill>
                  <a:srgbClr val="1F3864"/>
                </a:solidFill>
                <a:latin typeface="Arial" pitchFamily="34" charset="0"/>
                <a:ea typeface="Arial" pitchFamily="34" charset="-122"/>
                <a:cs typeface="Arial" pitchFamily="34" charset="-120"/>
              </a:rPr>
              <a:t xml:space="preserve">PS</a:t>
            </a:r>
            <a:r>
              <a:rPr lang="en-US" sz="2600" b="1" dirty="0">
                <a:solidFill>
                  <a:srgbClr val="1F3864"/>
                </a:solidFill>
                <a:latin typeface="Arial" pitchFamily="34" charset="0"/>
                <a:ea typeface="Arial" pitchFamily="34" charset="-122"/>
                <a:cs typeface="Arial" pitchFamily="34" charset="-120"/>
              </a:rPr>
              <a:t xml:space="preserve"> T</a:t>
            </a:r>
            <a:r>
              <a:rPr lang="en-US" sz="2000" b="1" dirty="0">
                <a:solidFill>
                  <a:srgbClr val="1F3864"/>
                </a:solidFill>
                <a:latin typeface="Arial" pitchFamily="34" charset="0"/>
                <a:ea typeface="Arial" pitchFamily="34" charset="-122"/>
                <a:cs typeface="Arial" pitchFamily="34" charset="-120"/>
              </a:rPr>
              <a:t xml:space="preserve">O</a:t>
            </a:r>
            <a:r>
              <a:rPr lang="en-US" sz="2600" b="1" dirty="0">
                <a:solidFill>
                  <a:srgbClr val="1F3864"/>
                </a:solidFill>
                <a:latin typeface="Arial" pitchFamily="34" charset="0"/>
                <a:ea typeface="Arial" pitchFamily="34" charset="-122"/>
                <a:cs typeface="Arial" pitchFamily="34" charset="-120"/>
              </a:rPr>
              <a:t xml:space="preserve"> T</a:t>
            </a:r>
            <a:r>
              <a:rPr lang="en-US" sz="2000" b="1" dirty="0">
                <a:solidFill>
                  <a:srgbClr val="1F3864"/>
                </a:solidFill>
                <a:latin typeface="Arial" pitchFamily="34" charset="0"/>
                <a:ea typeface="Arial" pitchFamily="34" charset="-122"/>
                <a:cs typeface="Arial" pitchFamily="34" charset="-120"/>
              </a:rPr>
              <a:t xml:space="preserve">HE</a:t>
            </a:r>
            <a:r>
              <a:rPr lang="en-US" sz="2600" b="1" dirty="0">
                <a:solidFill>
                  <a:srgbClr val="1F3864"/>
                </a:solidFill>
                <a:latin typeface="Arial" pitchFamily="34" charset="0"/>
                <a:ea typeface="Arial" pitchFamily="34" charset="-122"/>
                <a:cs typeface="Arial" pitchFamily="34" charset="-120"/>
              </a:rPr>
              <a:t xml:space="preserve"> C</a:t>
            </a:r>
            <a:r>
              <a:rPr lang="en-US" sz="2000" b="1" dirty="0">
                <a:solidFill>
                  <a:srgbClr val="1F3864"/>
                </a:solidFill>
                <a:latin typeface="Arial" pitchFamily="34" charset="0"/>
                <a:ea typeface="Arial" pitchFamily="34" charset="-122"/>
                <a:cs typeface="Arial" pitchFamily="34" charset="-120"/>
              </a:rPr>
              <a:t xml:space="preserve">ONSTRUCTION</a:t>
            </a:r>
            <a:r>
              <a:rPr lang="en-US" sz="2600" b="1" dirty="0">
                <a:solidFill>
                  <a:srgbClr val="1F3864"/>
                </a:solidFill>
                <a:latin typeface="Arial" pitchFamily="34" charset="0"/>
                <a:ea typeface="Arial" pitchFamily="34" charset="-122"/>
                <a:cs typeface="Arial" pitchFamily="34" charset="-120"/>
              </a:rPr>
              <a:t xml:space="preserve"> C</a:t>
            </a:r>
            <a:r>
              <a:rPr lang="en-US" sz="2000" b="1" dirty="0">
                <a:solidFill>
                  <a:srgbClr val="1F3864"/>
                </a:solidFill>
                <a:latin typeface="Arial" pitchFamily="34" charset="0"/>
                <a:ea typeface="Arial" pitchFamily="34" charset="-122"/>
                <a:cs typeface="Arial" pitchFamily="34" charset="-120"/>
              </a:rPr>
              <a:t xml:space="preserve">ONTRACT</a:t>
            </a:r>
            <a:r>
              <a:rPr lang="en-US" sz="2600" b="1" dirty="0">
                <a:solidFill>
                  <a:srgbClr val="1F3864"/>
                </a:solidFill>
                <a:latin typeface="Arial" pitchFamily="34" charset="0"/>
                <a:ea typeface="Arial" pitchFamily="34" charset="-122"/>
                <a:cs typeface="Arial" pitchFamily="34" charset="-120"/>
              </a:rPr>
              <a:t xml:space="preserve"> A</a:t>
            </a:r>
            <a:r>
              <a:rPr lang="en-US" sz="2000" b="1" dirty="0">
                <a:solidFill>
                  <a:srgbClr val="1F3864"/>
                </a:solidFill>
                <a:latin typeface="Arial" pitchFamily="34" charset="0"/>
                <a:ea typeface="Arial" pitchFamily="34" charset="-122"/>
                <a:cs typeface="Arial" pitchFamily="34" charset="-120"/>
              </a:rPr>
              <a:t xml:space="preserve">ND</a:t>
            </a:r>
            <a:r>
              <a:rPr lang="en-US" sz="2600" b="1" dirty="0">
                <a:solidFill>
                  <a:srgbClr val="1F3864"/>
                </a:solidFill>
                <a:latin typeface="Arial" pitchFamily="34" charset="0"/>
                <a:ea typeface="Arial" pitchFamily="34" charset="-122"/>
                <a:cs typeface="Arial" pitchFamily="34" charset="-120"/>
              </a:rPr>
              <a:t xml:space="preserve"> W</a:t>
            </a:r>
            <a:r>
              <a:rPr lang="en-US" sz="2000" b="1" dirty="0">
                <a:solidFill>
                  <a:srgbClr val="1F3864"/>
                </a:solidFill>
                <a:latin typeface="Arial" pitchFamily="34" charset="0"/>
                <a:ea typeface="Arial" pitchFamily="34" charset="-122"/>
                <a:cs typeface="Arial" pitchFamily="34" charset="-120"/>
              </a:rPr>
              <a:t xml:space="preserve">HY</a:t>
            </a:r>
            <a:r>
              <a:rPr lang="en-US" sz="2600" b="1" dirty="0">
                <a:solidFill>
                  <a:srgbClr val="1F3864"/>
                </a:solidFill>
                <a:latin typeface="Arial" pitchFamily="34" charset="0"/>
                <a:ea typeface="Arial" pitchFamily="34" charset="-122"/>
                <a:cs typeface="Arial" pitchFamily="34" charset="-120"/>
              </a:rPr>
              <a:t xml:space="preserve"> – P</a:t>
            </a:r>
            <a:r>
              <a:rPr lang="en-US" sz="2000" b="1" dirty="0">
                <a:solidFill>
                  <a:srgbClr val="1F3864"/>
                </a:solidFill>
                <a:latin typeface="Arial" pitchFamily="34" charset="0"/>
                <a:ea typeface="Arial" pitchFamily="34" charset="-122"/>
                <a:cs typeface="Arial" pitchFamily="34" charset="-120"/>
              </a:rPr>
              <a:t xml:space="preserve">ART</a:t>
            </a:r>
            <a:r>
              <a:rPr lang="en-US" sz="2600" b="1" dirty="0">
                <a:solidFill>
                  <a:srgbClr val="1F3864"/>
                </a:solidFill>
                <a:latin typeface="Arial" pitchFamily="34" charset="0"/>
                <a:ea typeface="Arial" pitchFamily="34" charset="-122"/>
                <a:cs typeface="Arial" pitchFamily="34" charset="-120"/>
              </a:rPr>
              <a:t xml:space="preserve"> 2</a:t>
            </a:r>
            <a:endParaRPr lang="en-US" sz="2600" dirty="0"/>
          </a:p>
        </p:txBody>
      </p:sp>
      <p:sp>
        <p:nvSpPr>
          <p:cNvPr id="5" name="Shape 3"/>
          <p:cNvSpPr/>
          <p:nvPr/>
        </p:nvSpPr>
        <p:spPr>
          <a:xfrm>
            <a:off x="502920" y="1060704"/>
            <a:ext cx="11185855" cy="0"/>
          </a:xfrm>
          <a:prstGeom prst="line">
            <a:avLst/>
          </a:prstGeom>
          <a:noFill/>
          <a:ln w="19050">
            <a:solidFill>
              <a:srgbClr val="16294F"/>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5855" cy="4251960"/>
        </p:xfrm>
        <a:graphic>
          <a:graphicData uri="http://schemas.openxmlformats.org/drawingml/2006/table">
            <a:tbl>
              <a:tblPr/>
              <a:tblGrid>
                <a:gridCol w="384048">
                  <a:extLst>
                    <a:ext uri="{9D8B030D-6E8A-4147-A177-3AD203B41FA5}">
                      <a16:colId xmlns:a16="http://schemas.microsoft.com/office/drawing/2014/main" val="20000"/>
                    </a:ext>
                  </a:extLst>
                </a:gridCol>
                <a:gridCol w="10801807">
                  <a:extLst>
                    <a:ext uri="{9D8B030D-6E8A-4147-A177-3AD203B41FA5}">
                      <a16:colId xmlns:a16="http://schemas.microsoft.com/office/drawing/2014/main" val="20001"/>
                    </a:ext>
                  </a:extLst>
                </a:gridCol>
              </a:tblGrid>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G</a:t>
                      </a:r>
                      <a:r>
                        <a:rPr lang="en-US" sz="1500" b="1" dirty="0">
                          <a:solidFill>
                            <a:srgbClr val="1F3864"/>
                          </a:solidFill>
                          <a:latin typeface="Arial" pitchFamily="34" charset="0"/>
                          <a:ea typeface="Arial" pitchFamily="34" charset="-122"/>
                          <a:cs typeface="Arial" pitchFamily="34" charset="-120"/>
                        </a:rPr>
                        <a:t>RID</a:t>
                      </a:r>
                      <a:r>
                        <a:rPr lang="en-US" sz="1800" b="1" dirty="0">
                          <a:solidFill>
                            <a:srgbClr val="1F3864"/>
                          </a:solidFill>
                          <a:latin typeface="Arial" pitchFamily="34" charset="0"/>
                          <a:ea typeface="Arial" pitchFamily="34" charset="-122"/>
                          <a:cs typeface="Arial" pitchFamily="34" charset="-120"/>
                        </a:rPr>
                        <a:t xml:space="preserve"> I</a:t>
                      </a:r>
                      <a:r>
                        <a:rPr lang="en-US" sz="1500" b="1" dirty="0">
                          <a:solidFill>
                            <a:srgbClr val="1F3864"/>
                          </a:solidFill>
                          <a:latin typeface="Arial" pitchFamily="34" charset="0"/>
                          <a:ea typeface="Arial" pitchFamily="34" charset="-122"/>
                          <a:cs typeface="Arial" pitchFamily="34" charset="-120"/>
                        </a:rPr>
                        <a:t>NTERFACE</a:t>
                      </a:r>
                      <a:r>
                        <a:rPr lang="en-US" sz="1800" b="1" dirty="0">
                          <a:solidFill>
                            <a:srgbClr val="1F3864"/>
                          </a:solidFill>
                          <a:latin typeface="Arial" pitchFamily="34" charset="0"/>
                          <a:ea typeface="Arial" pitchFamily="34" charset="-122"/>
                          <a:cs typeface="Arial" pitchFamily="34" charset="-120"/>
                        </a:rPr>
                        <a:t xml:space="preserve"> A</a:t>
                      </a:r>
                      <a:r>
                        <a:rPr lang="en-US" sz="1500" b="1" dirty="0">
                          <a:solidFill>
                            <a:srgbClr val="1F3864"/>
                          </a:solidFill>
                          <a:latin typeface="Arial" pitchFamily="34" charset="0"/>
                          <a:ea typeface="Arial" pitchFamily="34" charset="-122"/>
                          <a:cs typeface="Arial" pitchFamily="34" charset="-120"/>
                        </a:rPr>
                        <a:t>ND</a:t>
                      </a:r>
                      <a:r>
                        <a:rPr lang="en-US" sz="1800" b="1" dirty="0">
                          <a:solidFill>
                            <a:srgbClr val="1F3864"/>
                          </a:solidFill>
                          <a:latin typeface="Arial" pitchFamily="34" charset="0"/>
                          <a:ea typeface="Arial" pitchFamily="34" charset="-122"/>
                          <a:cs typeface="Arial" pitchFamily="34" charset="-120"/>
                        </a:rPr>
                        <a:t xml:space="preserve"> C</a:t>
                      </a:r>
                      <a:r>
                        <a:rPr lang="en-US" sz="1500" b="1" dirty="0">
                          <a:solidFill>
                            <a:srgbClr val="1F3864"/>
                          </a:solidFill>
                          <a:latin typeface="Arial" pitchFamily="34" charset="0"/>
                          <a:ea typeface="Arial" pitchFamily="34" charset="-122"/>
                          <a:cs typeface="Arial" pitchFamily="34" charset="-120"/>
                        </a:rPr>
                        <a:t>OMMISSIONING</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The EPA’s K-Electric-facing obligations now sit with the Contractor.</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 xml:space="preserve">Metering ready </a:t>
                      </a:r>
                      <a:r>
                        <a:rPr lang="en-US" sz="1500" b="1" dirty="0">
                          <a:solidFill>
                            <a:srgbClr val="1F3864"/>
                          </a:solidFill>
                          <a:latin typeface="Arial" pitchFamily="34" charset="0"/>
                          <a:ea typeface="Arial" pitchFamily="34" charset="-122"/>
                          <a:cs typeface="Arial" pitchFamily="34" charset="-120"/>
                        </a:rPr>
                        <a:t>18 days</a:t>
                      </a:r>
                      <a:r>
                        <a:rPr lang="en-US" sz="1500" dirty="0">
                          <a:solidFill>
                            <a:srgbClr val="1F3864"/>
                          </a:solidFill>
                          <a:latin typeface="Arial" pitchFamily="34" charset="0"/>
                          <a:ea typeface="Arial" pitchFamily="34" charset="-122"/>
                          <a:cs typeface="Arial" pitchFamily="34" charset="-120"/>
                        </a:rPr>
                        <a:t xml:space="preserve"> before energisation; telecoms “DPLC or fibre optic”; no duty to co-operate with KE on interconnection; tests not tied to the EPA’s Engineer.</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dirty="0">
                          <a:solidFill>
                            <a:srgbClr val="1F3864"/>
                          </a:solidFill>
                          <a:latin typeface="Arial" pitchFamily="34" charset="0"/>
                          <a:ea typeface="Arial" pitchFamily="34" charset="-122"/>
                          <a:cs typeface="Arial" pitchFamily="34" charset="-120"/>
                        </a:rPr>
                        <a:t>Metering, monitoring, telecom (OPGW and V-SAT), forecasting equipment and load banks to EPA deadlines, several as Taking-Over Criteria; co-operation with KE; tests geared to the Engineer’s certificate.</a:t>
                      </a:r>
                      <a:endParaRPr lang="en-US" sz="1200" dirty="0">
                        <a:latin typeface="Arial" charset="0"/>
                        <a:ea typeface="Arial" charset="0"/>
                        <a:cs typeface="Arial" charset="0"/>
                      </a:endParaRPr>
                    </a:p>
                    <a:p>
                      <a:pPr marL="0" indent="0" algn="just">
                        <a:buNone/>
                      </a:pPr>
                      <a:r>
                        <a:rPr lang="en-US" sz="1400" dirty="0">
                          <a:solidFill>
                            <a:srgbClr val="000000"/>
                          </a:solidFill>
                          <a:latin typeface="Arial" pitchFamily="34" charset="0"/>
                          <a:ea typeface="Arial" pitchFamily="34" charset="-122"/>
                          <a:cs typeface="Arial" pitchFamily="34" charset="-120"/>
                        </a:rPr>
                        <a:t xml:space="preserve"> </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S</a:t>
                      </a:r>
                      <a:r>
                        <a:rPr lang="en-US" sz="1500" b="1" dirty="0">
                          <a:solidFill>
                            <a:srgbClr val="1F3864"/>
                          </a:solidFill>
                          <a:latin typeface="Arial" pitchFamily="34" charset="0"/>
                          <a:ea typeface="Arial" pitchFamily="34" charset="-122"/>
                          <a:cs typeface="Arial" pitchFamily="34" charset="-120"/>
                        </a:rPr>
                        <a:t>UBCONTRACTING</a:t>
                      </a:r>
                      <a:r>
                        <a:rPr lang="en-US" sz="1800" b="1" dirty="0">
                          <a:solidFill>
                            <a:srgbClr val="1F3864"/>
                          </a:solidFill>
                          <a:latin typeface="Arial" pitchFamily="34" charset="0"/>
                          <a:ea typeface="Arial" pitchFamily="34" charset="-122"/>
                          <a:cs typeface="Arial" pitchFamily="34" charset="-120"/>
                        </a:rPr>
                        <a:t>, S</a:t>
                      </a:r>
                      <a:r>
                        <a:rPr lang="en-US" sz="1500" b="1" dirty="0">
                          <a:solidFill>
                            <a:srgbClr val="1F3864"/>
                          </a:solidFill>
                          <a:latin typeface="Arial" pitchFamily="34" charset="0"/>
                          <a:ea typeface="Arial" pitchFamily="34" charset="-122"/>
                          <a:cs typeface="Arial" pitchFamily="34" charset="-120"/>
                        </a:rPr>
                        <a:t>ANCTIONS</a:t>
                      </a:r>
                      <a:r>
                        <a:rPr lang="en-US" sz="1800" b="1" dirty="0">
                          <a:solidFill>
                            <a:srgbClr val="1F3864"/>
                          </a:solidFill>
                          <a:latin typeface="Arial" pitchFamily="34" charset="0"/>
                          <a:ea typeface="Arial" pitchFamily="34" charset="-122"/>
                          <a:cs typeface="Arial" pitchFamily="34" charset="-120"/>
                        </a:rPr>
                        <a:t xml:space="preserve"> A</a:t>
                      </a:r>
                      <a:r>
                        <a:rPr lang="en-US" sz="1500" b="1" dirty="0">
                          <a:solidFill>
                            <a:srgbClr val="1F3864"/>
                          </a:solidFill>
                          <a:latin typeface="Arial" pitchFamily="34" charset="0"/>
                          <a:ea typeface="Arial" pitchFamily="34" charset="-122"/>
                          <a:cs typeface="Arial" pitchFamily="34" charset="-120"/>
                        </a:rPr>
                        <a:t>ND</a:t>
                      </a:r>
                      <a:r>
                        <a:rPr lang="en-US" sz="1800" b="1" dirty="0">
                          <a:solidFill>
                            <a:srgbClr val="1F3864"/>
                          </a:solidFill>
                          <a:latin typeface="Arial" pitchFamily="34" charset="0"/>
                          <a:ea typeface="Arial" pitchFamily="34" charset="-122"/>
                          <a:cs typeface="Arial" pitchFamily="34" charset="-120"/>
                        </a:rPr>
                        <a:t xml:space="preserve"> ABC</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Closing the “total subcontracting” and screening gaps.</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ABC Laws left as “[to insert Pakistan law equivalent]”; “substantially the whole” of a subcontract undefined; Restricted Person warranties “to its knowledge” only.</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dirty="0">
                          <a:solidFill>
                            <a:srgbClr val="1F3864"/>
                          </a:solidFill>
                          <a:latin typeface="Arial" pitchFamily="34" charset="0"/>
                          <a:ea typeface="Arial" pitchFamily="34" charset="-122"/>
                          <a:cs typeface="Arial" pitchFamily="34" charset="-120"/>
                        </a:rPr>
                        <a:t xml:space="preserve">ABC Laws now list the Pakistan statutes (Prevention of Corruption Act 1947, NAO 1999, ATA 1997, AMLA 2010, PPC ss. 161–165A); </a:t>
                      </a:r>
                      <a:r>
                        <a:rPr lang="en-US" sz="1500" b="1" dirty="0">
                          <a:solidFill>
                            <a:srgbClr val="1F3864"/>
                          </a:solidFill>
                          <a:latin typeface="Arial" pitchFamily="34" charset="0"/>
                          <a:ea typeface="Arial" pitchFamily="34" charset="-122"/>
                          <a:cs typeface="Arial" pitchFamily="34" charset="-120"/>
                        </a:rPr>
                        <a:t>50%</a:t>
                      </a:r>
                      <a:r>
                        <a:rPr lang="en-US" sz="1500" dirty="0">
                          <a:solidFill>
                            <a:srgbClr val="1F3864"/>
                          </a:solidFill>
                          <a:latin typeface="Arial" pitchFamily="34" charset="0"/>
                          <a:ea typeface="Arial" pitchFamily="34" charset="-122"/>
                          <a:cs typeface="Arial" pitchFamily="34" charset="-120"/>
                        </a:rPr>
                        <a:t xml:space="preserve"> total-subcontracting test; Restricted Person Subcontractors replaced within </a:t>
                      </a:r>
                      <a:r>
                        <a:rPr lang="en-US" sz="1500" b="1" dirty="0">
                          <a:solidFill>
                            <a:srgbClr val="1F3864"/>
                          </a:solidFill>
                          <a:latin typeface="Arial" pitchFamily="34" charset="0"/>
                          <a:ea typeface="Arial" pitchFamily="34" charset="-122"/>
                          <a:cs typeface="Arial" pitchFamily="34" charset="-120"/>
                        </a:rPr>
                        <a:t>10 Business Days</a:t>
                      </a:r>
                      <a:r>
                        <a:rPr lang="en-US" sz="1500" dirty="0">
                          <a:solidFill>
                            <a:srgbClr val="1F386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p>
                      <a:pPr marL="0" indent="0" algn="just">
                        <a:buNone/>
                      </a:pPr>
                      <a:r>
                        <a:rPr lang="en-US" sz="1400" dirty="0">
                          <a:solidFill>
                            <a:srgbClr val="000000"/>
                          </a:solidFill>
                          <a:latin typeface="Arial" pitchFamily="34" charset="0"/>
                          <a:ea typeface="Arial" pitchFamily="34" charset="-122"/>
                          <a:cs typeface="Arial" pitchFamily="34" charset="-120"/>
                        </a:rPr>
                        <a:t xml:space="preserve"> </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r h="0">
                <a:tc>
                  <a:txBody>
                    <a:bodyPr/>
                    <a:lstStyle/>
                    <a:p>
                      <a:pPr marL="0" indent="0" algn="l">
                        <a:buNone/>
                      </a:pPr>
                      <a:r>
                        <a:rPr lang="en-US" sz="1800" b="1" dirty="0">
                          <a:solidFill>
                            <a:srgbClr val="1F3864"/>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c>
                  <a:txBody>
                    <a:bodyPr/>
                    <a:lstStyle/>
                    <a:p>
                      <a:pPr marL="0" indent="0" algn="just">
                        <a:buNone/>
                      </a:pPr>
                      <a:r>
                        <a:rPr lang="en-US" sz="1800" b="1" dirty="0">
                          <a:solidFill>
                            <a:srgbClr val="1F3864"/>
                          </a:solidFill>
                          <a:latin typeface="Arial" pitchFamily="34" charset="0"/>
                          <a:ea typeface="Arial" pitchFamily="34" charset="-122"/>
                          <a:cs typeface="Arial" pitchFamily="34" charset="-120"/>
                        </a:rPr>
                        <a:t>I</a:t>
                      </a:r>
                      <a:r>
                        <a:rPr lang="en-US" sz="1500" b="1" dirty="0">
                          <a:solidFill>
                            <a:srgbClr val="1F3864"/>
                          </a:solidFill>
                          <a:latin typeface="Arial" pitchFamily="34" charset="0"/>
                          <a:ea typeface="Arial" pitchFamily="34" charset="-122"/>
                          <a:cs typeface="Arial" pitchFamily="34" charset="-120"/>
                        </a:rPr>
                        <a:t>NSURANCE</a:t>
                      </a:r>
                      <a:r>
                        <a:rPr lang="en-US" sz="1800" b="1" dirty="0">
                          <a:solidFill>
                            <a:srgbClr val="1F3864"/>
                          </a:solidFill>
                          <a:latin typeface="Arial" pitchFamily="34" charset="0"/>
                          <a:ea typeface="Arial" pitchFamily="34" charset="-122"/>
                          <a:cs typeface="Arial" pitchFamily="34" charset="-120"/>
                        </a:rPr>
                        <a:t xml:space="preserve"> A</a:t>
                      </a:r>
                      <a:r>
                        <a:rPr lang="en-US" sz="1500" b="1" dirty="0">
                          <a:solidFill>
                            <a:srgbClr val="1F3864"/>
                          </a:solidFill>
                          <a:latin typeface="Arial" pitchFamily="34" charset="0"/>
                          <a:ea typeface="Arial" pitchFamily="34" charset="-122"/>
                          <a:cs typeface="Arial" pitchFamily="34" charset="-120"/>
                        </a:rPr>
                        <a:t>ND</a:t>
                      </a:r>
                      <a:r>
                        <a:rPr lang="en-US" sz="1800" b="1" dirty="0">
                          <a:solidFill>
                            <a:srgbClr val="1F3864"/>
                          </a:solidFill>
                          <a:latin typeface="Arial" pitchFamily="34" charset="0"/>
                          <a:ea typeface="Arial" pitchFamily="34" charset="-122"/>
                          <a:cs typeface="Arial" pitchFamily="34" charset="-120"/>
                        </a:rPr>
                        <a:t xml:space="preserve"> I</a:t>
                      </a:r>
                      <a:r>
                        <a:rPr lang="en-US" sz="1500" b="1" dirty="0">
                          <a:solidFill>
                            <a:srgbClr val="1F3864"/>
                          </a:solidFill>
                          <a:latin typeface="Arial" pitchFamily="34" charset="0"/>
                          <a:ea typeface="Arial" pitchFamily="34" charset="-122"/>
                          <a:cs typeface="Arial" pitchFamily="34" charset="-120"/>
                        </a:rPr>
                        <a:t>NDEMNITIES</a:t>
                      </a:r>
                      <a:r>
                        <a:rPr lang="en-US" sz="1800" b="1" dirty="0">
                          <a:solidFill>
                            <a:srgbClr val="1F3864"/>
                          </a:solidFill>
                          <a:latin typeface="Arial" pitchFamily="34" charset="0"/>
                          <a:ea typeface="Arial" pitchFamily="34" charset="-122"/>
                          <a:cs typeface="Arial" pitchFamily="34" charset="-120"/>
                        </a:rPr>
                        <a:t>:</a:t>
                      </a:r>
                      <a:r>
                        <a:rPr lang="en-US" sz="1700" dirty="0">
                          <a:solidFill>
                            <a:srgbClr val="1F3864"/>
                          </a:solidFill>
                          <a:latin typeface="Arial" pitchFamily="34" charset="0"/>
                          <a:ea typeface="Arial" pitchFamily="34" charset="-122"/>
                          <a:cs typeface="Arial" pitchFamily="34" charset="-120"/>
                        </a:rPr>
                        <a:t xml:space="preserve"> Aligning cover and liability with the Energy Purchaser’s interests.</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Original: </a:t>
                      </a:r>
                      <a:r>
                        <a:rPr lang="en-US" sz="1500" dirty="0">
                          <a:solidFill>
                            <a:srgbClr val="1F3864"/>
                          </a:solidFill>
                          <a:latin typeface="Arial" pitchFamily="34" charset="0"/>
                          <a:ea typeface="Arial" pitchFamily="34" charset="-122"/>
                          <a:cs typeface="Arial" pitchFamily="34" charset="-120"/>
                        </a:rPr>
                        <a:t>Liability insurance said nothing about the Energy Purchaser’s interests; the tampering indemnity covered only compensation paid on termination of the EPA.</a:t>
                      </a:r>
                      <a:endParaRPr lang="en-US" sz="1200" dirty="0">
                        <a:latin typeface="Arial" charset="0"/>
                        <a:ea typeface="Arial" charset="0"/>
                        <a:cs typeface="Arial" charset="0"/>
                      </a:endParaRPr>
                    </a:p>
                    <a:p>
                      <a:pPr marL="411480" indent="-228600" algn="just">
                        <a:spcBef>
                          <a:spcPts val="200"/>
                        </a:spcBef>
                        <a:buFont typeface="Arial" pitchFamily="34" charset="0"/>
                        <a:buChar char="•"/>
                      </a:pPr>
                      <a:r>
                        <a:rPr lang="en-US" sz="1500" b="1" dirty="0">
                          <a:solidFill>
                            <a:srgbClr val="1F3864"/>
                          </a:solidFill>
                          <a:latin typeface="Arial" pitchFamily="34" charset="0"/>
                          <a:ea typeface="Arial" pitchFamily="34" charset="-122"/>
                          <a:cs typeface="Arial" pitchFamily="34" charset="-120"/>
                        </a:rPr>
                        <a:t xml:space="preserve">Our Mark-Up: </a:t>
                      </a:r>
                      <a:r>
                        <a:rPr lang="en-US" sz="1500" dirty="0">
                          <a:solidFill>
                            <a:srgbClr val="1F3864"/>
                          </a:solidFill>
                          <a:latin typeface="Arial" pitchFamily="34" charset="0"/>
                          <a:ea typeface="Arial" pitchFamily="34" charset="-122"/>
                          <a:cs typeface="Arial" pitchFamily="34" charset="-120"/>
                        </a:rPr>
                        <a:t>Policies must name the Energy Purchaser as additional insured, waive subrogation and match EPA cancellation-notice periods; the tampering indemnity now extends to any amount paid under the EPA, including liquidated damages and remedial costs.</a:t>
                      </a:r>
                      <a:endParaRPr lang="en-US" sz="1200" dirty="0">
                        <a:latin typeface="Arial" charset="0"/>
                        <a:ea typeface="Arial" charset="0"/>
                        <a:cs typeface="Arial" charset="0"/>
                      </a:endParaRPr>
                    </a:p>
                  </a:txBody>
                  <a:tcPr marL="0" marR="0" marT="0" marB="0">
                    <a:lnL w="0" cap="flat" cmpd="sng" algn="ctr">
                      <a:noFill/>
                    </a:lnL>
                    <a:lnR w="0" cap="flat" cmpd="sng" algn="ctr">
                      <a:noFill/>
                    </a:lnR>
                    <a:lnT w="0" cap="flat" cmpd="sng" algn="ctr">
                      <a:noFill/>
                    </a:lnT>
                    <a:lnB w="0" cap="flat" cmpd="sng" algn="ctr">
                      <a:noFill/>
                    </a:lnB>
                  </a:tcPr>
                </a:tc>
              </a:tr>
            </a:tbl>
          </a:graphicData>
        </a:graphic>
      </p:graphicFrame>
      <p:pic>
        <p:nvPicPr>
          <p:cNvPr id="7" name="Image 0" descr="/home/claude/riali-pptx/logo.jpeg"/>
          <p:cNvPicPr>
            <a:picLocks noChangeAspect="1"/>
          </p:cNvPicPr>
          <p:nvPr/>
        </p:nvPicPr>
        <p:blipFill>
          <a:blip r:embed="rId4"/>
          <a:stretch>
            <a:fillRect/>
          </a:stretch>
        </p:blipFill>
        <p:spPr>
          <a:xfrm>
            <a:off x="274320" y="5925312"/>
            <a:ext cx="548640" cy="548640"/>
          </a:xfrm>
          <a:prstGeom prst="rect">
            <a:avLst/>
          </a:prstGeom>
        </p:spPr>
      </p:pic>
      <p:sp>
        <p:nvSpPr>
          <p:cNvPr id="8" name="Text 4"/>
          <p:cNvSpPr txBox="1"/>
          <p:nvPr/>
        </p:nvSpPr>
        <p:spPr>
          <a:xfrm>
            <a:off x="0" y="6419088"/>
            <a:ext cx="12191695" cy="237744"/>
          </a:xfrm>
          <a:prstGeom prst="rect">
            <a:avLst/>
          </a:prstGeom>
          <a:noFill/>
          <a:ln/>
        </p:spPr>
        <p:txBody>
          <a:bodyPr wrap="square" lIns="0" tIns="0" rIns="0" bIns="0" rtlCol="0" anchor="ctr"/>
          <a:lstStyle/>
          <a:p>
            <a:pPr marL="0" indent="0" algn="ctr">
              <a:buNone/>
            </a:pPr>
            <a:r>
              <a:rPr lang="en-US" sz="1050" dirty="0">
                <a:solidFill>
                  <a:srgbClr val="8A8F98"/>
                </a:solidFill>
                <a:latin typeface="Arial" pitchFamily="34" charset="0"/>
                <a:ea typeface="Arial" pitchFamily="34" charset="-122"/>
                <a:cs typeface="Arial" pitchFamily="34" charset="-120"/>
              </a:rPr>
              <a:t>https://akla.com.pk/</a:t>
            </a:r>
            <a:endParaRPr lang="en-US" sz="1050" dirty="0"/>
          </a:p>
        </p:txBody>
      </p:sp>
      <p:sp>
        <p:nvSpPr>
          <p:cNvPr id="9" name="Text 5"/>
          <p:cNvSpPr txBox="1"/>
          <p:nvPr/>
        </p:nvSpPr>
        <p:spPr>
          <a:xfrm>
            <a:off x="11460175" y="6419088"/>
            <a:ext cx="502920" cy="237744"/>
          </a:xfrm>
          <a:prstGeom prst="rect">
            <a:avLst/>
          </a:prstGeom>
          <a:noFill/>
          <a:ln/>
        </p:spPr>
        <p:txBody>
          <a:bodyPr wrap="square" lIns="0" tIns="0" rIns="0" bIns="0" rtlCol="0" anchor="ctr"/>
          <a:lstStyle/>
          <a:p>
            <a:pPr marL="0" indent="0" algn="r">
              <a:buNone/>
            </a:pPr>
            <a:r>
              <a:rPr lang="en-US" sz="1100" dirty="0">
                <a:solidFill>
                  <a:srgbClr val="1F3864"/>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65CB05D76651409B05B1165CD2AABD" ma:contentTypeVersion="12" ma:contentTypeDescription="Create a new document." ma:contentTypeScope="" ma:versionID="e0b6b18c2324d4d84bb282790cf97a1e">
  <xsd:schema xmlns:xsd="http://www.w3.org/2001/XMLSchema" xmlns:xs="http://www.w3.org/2001/XMLSchema" xmlns:p="http://schemas.microsoft.com/office/2006/metadata/properties" xmlns:ns2="3a2941a5-04d0-4343-a215-27cd5b2a3bc1" xmlns:ns3="579501d4-a88f-4946-8009-cdaca718f4e3" targetNamespace="http://schemas.microsoft.com/office/2006/metadata/properties" ma:root="true" ma:fieldsID="6628d47b25e48bf1025fb8172019b002" ns2:_="" ns3:_="">
    <xsd:import namespace="3a2941a5-04d0-4343-a215-27cd5b2a3bc1"/>
    <xsd:import namespace="579501d4-a88f-4946-8009-cdaca718f4e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2941a5-04d0-4343-a215-27cd5b2a3b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a4d0718-4e64-40fb-adb7-f115fd9ea52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9501d4-a88f-4946-8009-cdaca718f4e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589212-14ec-46a8-bf71-8ecd957386cc}" ma:internalName="TaxCatchAll" ma:showField="CatchAllData" ma:web="579501d4-a88f-4946-8009-cdaca718f4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79501d4-a88f-4946-8009-cdaca718f4e3" xsi:nil="true"/>
    <lcf76f155ced4ddcb4097134ff3c332f xmlns="3a2941a5-04d0-4343-a215-27cd5b2a3bc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0113AC7-5D5D-4460-B2E4-465924A9DE62}"/>
</file>

<file path=customXml/itemProps2.xml><?xml version="1.0" encoding="utf-8"?>
<ds:datastoreItem xmlns:ds="http://schemas.openxmlformats.org/officeDocument/2006/customXml" ds:itemID="{9FAF6CE6-CF01-48FB-AAF6-FA7CEBED063D}"/>
</file>

<file path=customXml/itemProps3.xml><?xml version="1.0" encoding="utf-8"?>
<ds:datastoreItem xmlns:ds="http://schemas.openxmlformats.org/officeDocument/2006/customXml" ds:itemID="{1B269979-2334-4785-BACE-A2B0AE8DCECC}"/>
</file>

<file path=docProps/app.xml><?xml version="1.0" encoding="utf-8"?>
<Properties xmlns="http://schemas.openxmlformats.org/officeDocument/2006/extended-properties" xmlns:vt="http://schemas.openxmlformats.org/officeDocument/2006/docPropsVTypes">
  <TotalTime>2</TotalTime>
  <Words>943</Words>
  <Application>Microsoft Office PowerPoint</Application>
  <PresentationFormat>Widescreen</PresentationFormat>
  <Paragraphs>57</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Company>Ali Khan Law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Riali Hydro Power Company - About The Target Company And Issues Regarding It</dc:title>
  <dc:subject>PptxGenJS Presentation</dc:subject>
  <dc:creator>Ali Khan Law Associates</dc:creator>
  <cp:lastModifiedBy>Usama Siddiqui</cp:lastModifiedBy>
  <cp:revision>2</cp:revision>
  <dcterms:created xsi:type="dcterms:W3CDTF">2026-09-17T12:36:12Z</dcterms:created>
  <dcterms:modified xsi:type="dcterms:W3CDTF">2026-09-17T13:22:29Z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0x010100B065CB05D76651409B05B1165CD2AABD</vt:lpwstr>
  </property>
</Properties>
</file>